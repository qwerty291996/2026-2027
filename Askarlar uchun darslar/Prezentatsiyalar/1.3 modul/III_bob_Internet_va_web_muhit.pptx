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1.png"/><Relationship Id="rId3" Type="http://schemas.openxmlformats.org/officeDocument/2006/relationships/image" Target="../media/image-16-1.png"/><Relationship Id="rId4" Type="http://schemas.openxmlformats.org/officeDocument/2006/relationships/image" Target="../media/image-16-1.png"/><Relationship Id="rId5" Type="http://schemas.openxmlformats.org/officeDocument/2006/relationships/image" Target="../media/image-16-1.png"/><Relationship Id="rId6" Type="http://schemas.openxmlformats.org/officeDocument/2006/relationships/image" Target="../media/image-16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500" kern="0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 BOB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8686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 texnologiyalari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 web muhit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41248" y="36118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Boshlang'ichlar uchun professional o'quv prezentatsiyasi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41248" y="4343400"/>
            <a:ext cx="1961388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CFE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4343400"/>
            <a:ext cx="19613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tarixi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003804" y="4343400"/>
            <a:ext cx="1225296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CFE3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03804" y="434340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&amp; IP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0268" y="4343400"/>
            <a:ext cx="1961388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CFE3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0268" y="4343400"/>
            <a:ext cx="19613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JS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92824" y="4343400"/>
            <a:ext cx="1435608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CFE3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92824" y="4343400"/>
            <a:ext cx="1435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Brauzerlar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0" y="4343400"/>
            <a:ext cx="1435608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CFE3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4343400"/>
            <a:ext cx="1435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Xavfsizlik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646920" y="1600200"/>
            <a:ext cx="1828800" cy="1828800"/>
          </a:xfrm>
          <a:prstGeom prst="ellipse">
            <a:avLst/>
          </a:prstGeom>
          <a:solidFill>
            <a:srgbClr val="1C6DD0"/>
          </a:solidFill>
          <a:ln/>
        </p:spPr>
      </p:sp>
      <p:pic>
        <p:nvPicPr>
          <p:cNvPr id="16" name="Image 0" descr="icons/globe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5832" y="2039112"/>
            <a:ext cx="950976" cy="95097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"Kompyuter axborot texnologiyalari asoslari" o'quv qo'llanmasi asosida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6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HAQIDA UMUMIY KO'RINISH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Ushbu bobda nimalarni o'rganamiz?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292840" y="384048"/>
            <a:ext cx="457200" cy="457200"/>
          </a:xfrm>
          <a:prstGeom prst="ellipse">
            <a:avLst/>
          </a:prstGeom>
          <a:solidFill>
            <a:srgbClr val="1C6DD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529584" cy="1417320"/>
          </a:xfrm>
          <a:prstGeom prst="roundRect">
            <a:avLst>
              <a:gd name="adj" fmla="val 5806"/>
            </a:avLst>
          </a:prstGeom>
          <a:solidFill>
            <a:srgbClr val="E7F0FB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856232"/>
            <a:ext cx="777240" cy="777240"/>
          </a:xfrm>
          <a:prstGeom prst="ellipse">
            <a:avLst/>
          </a:prstGeom>
          <a:solidFill>
            <a:srgbClr val="1C6DD0"/>
          </a:solidFill>
          <a:ln/>
        </p:spPr>
      </p:sp>
      <p:pic>
        <p:nvPicPr>
          <p:cNvPr id="7" name="Image 0" descr="icons/globe_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778" y="2042770"/>
            <a:ext cx="404165" cy="4041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64208" y="1819656"/>
            <a:ext cx="2295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Internetning mohiyati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664208" y="2258568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Paydo bo'lishi, rivojlanishi va jamiyatdagi o'rni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51960" y="1600200"/>
            <a:ext cx="3529584" cy="1417320"/>
          </a:xfrm>
          <a:prstGeom prst="roundRect">
            <a:avLst>
              <a:gd name="adj" fmla="val 5806"/>
            </a:avLst>
          </a:prstGeom>
          <a:solidFill>
            <a:srgbClr val="E7F0FB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80560" y="1856232"/>
            <a:ext cx="777240" cy="777240"/>
          </a:xfrm>
          <a:prstGeom prst="ellipse">
            <a:avLst/>
          </a:prstGeom>
          <a:solidFill>
            <a:srgbClr val="1C6DD0"/>
          </a:solidFill>
          <a:ln/>
        </p:spPr>
      </p:sp>
      <p:pic>
        <p:nvPicPr>
          <p:cNvPr id="12" name="Image 1" descr="icons/server_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098" y="2042770"/>
            <a:ext cx="404165" cy="40416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67528" y="1819656"/>
            <a:ext cx="2295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Tarmoqning ishlashi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5367528" y="2258568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Paketli uzatish, IP manzil, domen nomlari va DNS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955280" y="1600200"/>
            <a:ext cx="3529584" cy="1417320"/>
          </a:xfrm>
          <a:prstGeom prst="roundRect">
            <a:avLst>
              <a:gd name="adj" fmla="val 5806"/>
            </a:avLst>
          </a:prstGeom>
          <a:solidFill>
            <a:srgbClr val="E7F0FB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183880" y="1856232"/>
            <a:ext cx="777240" cy="777240"/>
          </a:xfrm>
          <a:prstGeom prst="ellipse">
            <a:avLst/>
          </a:prstGeom>
          <a:solidFill>
            <a:srgbClr val="1C6DD0"/>
          </a:solidFill>
          <a:ln/>
        </p:spPr>
      </p:sp>
      <p:pic>
        <p:nvPicPr>
          <p:cNvPr id="17" name="Image 2" descr="icons/code_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0418" y="2042770"/>
            <a:ext cx="404165" cy="40416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70848" y="1819656"/>
            <a:ext cx="2295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texnologiyalar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9070848" y="2258568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sahifa, HTML · CSS · JavaScript va URL manzil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3218688"/>
            <a:ext cx="3529584" cy="1417320"/>
          </a:xfrm>
          <a:prstGeom prst="roundRect">
            <a:avLst>
              <a:gd name="adj" fmla="val 5806"/>
            </a:avLst>
          </a:prstGeom>
          <a:solidFill>
            <a:srgbClr val="E7F0FB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77240" y="3474720"/>
            <a:ext cx="777240" cy="777240"/>
          </a:xfrm>
          <a:prstGeom prst="ellipse">
            <a:avLst/>
          </a:prstGeom>
          <a:solidFill>
            <a:srgbClr val="1C6DD0"/>
          </a:solidFill>
          <a:ln/>
        </p:spPr>
      </p:sp>
      <p:pic>
        <p:nvPicPr>
          <p:cNvPr id="22" name="Image 3" descr="icons/monitor_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778" y="3661258"/>
            <a:ext cx="404165" cy="40416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64208" y="3438144"/>
            <a:ext cx="2295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brauzerlar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1664208" y="3877056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Vazifalari, foydali funksiyalar va cookie fayllar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251960" y="3218688"/>
            <a:ext cx="3529584" cy="1417320"/>
          </a:xfrm>
          <a:prstGeom prst="roundRect">
            <a:avLst>
              <a:gd name="adj" fmla="val 5806"/>
            </a:avLst>
          </a:prstGeom>
          <a:solidFill>
            <a:srgbClr val="E7F0FB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480560" y="3474720"/>
            <a:ext cx="777240" cy="777240"/>
          </a:xfrm>
          <a:prstGeom prst="ellipse">
            <a:avLst/>
          </a:prstGeom>
          <a:solidFill>
            <a:srgbClr val="1C6DD0"/>
          </a:solidFill>
          <a:ln/>
        </p:spPr>
      </p:sp>
      <p:pic>
        <p:nvPicPr>
          <p:cNvPr id="27" name="Image 4" descr="icons/cloud_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7098" y="3661258"/>
            <a:ext cx="404165" cy="40416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67528" y="3438144"/>
            <a:ext cx="2295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 xizmatlari</a:t>
            </a:r>
            <a:endParaRPr lang="en-US" sz="1550" dirty="0"/>
          </a:p>
        </p:txBody>
      </p:sp>
      <p:sp>
        <p:nvSpPr>
          <p:cNvPr id="29" name="Text 22"/>
          <p:cNvSpPr/>
          <p:nvPr/>
        </p:nvSpPr>
        <p:spPr>
          <a:xfrm>
            <a:off x="5367528" y="3877056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 pochta, bulut va ta'lim resurslari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7955280" y="3218688"/>
            <a:ext cx="3529584" cy="1417320"/>
          </a:xfrm>
          <a:prstGeom prst="roundRect">
            <a:avLst>
              <a:gd name="adj" fmla="val 5806"/>
            </a:avLst>
          </a:prstGeom>
          <a:solidFill>
            <a:srgbClr val="E7F0FB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183880" y="3474720"/>
            <a:ext cx="777240" cy="777240"/>
          </a:xfrm>
          <a:prstGeom prst="ellipse">
            <a:avLst/>
          </a:prstGeom>
          <a:solidFill>
            <a:srgbClr val="1C6DD0"/>
          </a:solidFill>
          <a:ln/>
        </p:spPr>
      </p:sp>
      <p:pic>
        <p:nvPicPr>
          <p:cNvPr id="32" name="Image 5" descr="icons/shield_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0418" y="3661258"/>
            <a:ext cx="404165" cy="404165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070848" y="3438144"/>
            <a:ext cx="2295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Axborot xavfsizligi</a:t>
            </a:r>
            <a:endParaRPr lang="en-US" sz="1550" dirty="0"/>
          </a:p>
        </p:txBody>
      </p:sp>
      <p:sp>
        <p:nvSpPr>
          <p:cNvPr id="34" name="Text 26"/>
          <p:cNvSpPr/>
          <p:nvPr/>
        </p:nvSpPr>
        <p:spPr>
          <a:xfrm>
            <a:off x="9070848" y="3877056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Internetdagi xavflar, himoya usullari va netiket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548640" y="645566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axborot texnologiyalari asoslari  •  III bob: Internet texnologiyalari va web muhit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6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· MOHIYAT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 nima?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292840" y="384048"/>
            <a:ext cx="457200" cy="457200"/>
          </a:xfrm>
          <a:prstGeom prst="ellipse">
            <a:avLst/>
          </a:prstGeom>
          <a:solidFill>
            <a:srgbClr val="1C6DD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532120" cy="4206240"/>
          </a:xfrm>
          <a:prstGeom prst="roundRect">
            <a:avLst>
              <a:gd name="adj" fmla="val 1957"/>
            </a:avLst>
          </a:prstGeom>
          <a:solidFill>
            <a:srgbClr val="0A2540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965960"/>
            <a:ext cx="960120" cy="960120"/>
          </a:xfrm>
          <a:prstGeom prst="ellipse">
            <a:avLst/>
          </a:prstGeom>
          <a:solidFill>
            <a:srgbClr val="1C6DD0"/>
          </a:solidFill>
          <a:ln/>
        </p:spPr>
      </p:sp>
      <p:pic>
        <p:nvPicPr>
          <p:cNvPr id="7" name="Image 0" descr="icons/glob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109" y="2196389"/>
            <a:ext cx="499262" cy="4992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65960" y="20574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68680" y="3063240"/>
            <a:ext cx="4892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50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Butun dunyo bo'ylab millionlab kompyuter va tarmoqlarni yagona umumiy standartlar (protokollar) asosida bog'lovchi global tarmoqlar tarmog'i.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868680" y="4434840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So'zma-so'z: "inter-network" — tarmoqlararo bog'lanish.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8680" y="502920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Wide Web (WWW) — internetdagi eng ommabop xizmat: internetning o'zi emas, balki ustida ishlaydigan web sahifalar tizimi.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355080" y="16916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C6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ORQALI BIZ: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355080" y="2084832"/>
            <a:ext cx="5285232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37960" y="2231136"/>
            <a:ext cx="530352" cy="530352"/>
          </a:xfrm>
          <a:prstGeom prst="ellipse">
            <a:avLst/>
          </a:prstGeom>
          <a:solidFill>
            <a:srgbClr val="E7F0FB"/>
          </a:solidFill>
          <a:ln/>
        </p:spPr>
      </p:sp>
      <p:pic>
        <p:nvPicPr>
          <p:cNvPr id="15" name="Image 1" descr="icons/book_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244" y="2358420"/>
            <a:ext cx="275783" cy="27578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223760" y="2084832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Bilim:  </a:t>
            </a:r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onlayn kurslar, kutubxona, video darslar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355080" y="3044952"/>
            <a:ext cx="5285232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537960" y="3191256"/>
            <a:ext cx="530352" cy="530352"/>
          </a:xfrm>
          <a:prstGeom prst="ellipse">
            <a:avLst/>
          </a:prstGeom>
          <a:solidFill>
            <a:srgbClr val="E7F0FB"/>
          </a:solidFill>
          <a:ln/>
        </p:spPr>
      </p:sp>
      <p:pic>
        <p:nvPicPr>
          <p:cNvPr id="19" name="Image 2" descr="icons/brief_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244" y="3318540"/>
            <a:ext cx="275783" cy="27578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223760" y="3044952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Ish:  </a:t>
            </a:r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masofaviy ish, hujjat almashinuvi, video yig'ilish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355080" y="4005072"/>
            <a:ext cx="5285232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537960" y="4151376"/>
            <a:ext cx="530352" cy="530352"/>
          </a:xfrm>
          <a:prstGeom prst="ellipse">
            <a:avLst/>
          </a:prstGeom>
          <a:solidFill>
            <a:srgbClr val="E7F0FB"/>
          </a:solidFill>
          <a:ln/>
        </p:spPr>
      </p:sp>
      <p:pic>
        <p:nvPicPr>
          <p:cNvPr id="23" name="Image 3" descr="icons/msg_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244" y="4278660"/>
            <a:ext cx="275783" cy="27578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23760" y="4005072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Muloqot:  </a:t>
            </a:r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messenjer, ijtimoiy tarmoq, video qo'ng'iroq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6355080" y="4965192"/>
            <a:ext cx="5285232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537960" y="5111496"/>
            <a:ext cx="530352" cy="530352"/>
          </a:xfrm>
          <a:prstGeom prst="ellipse">
            <a:avLst/>
          </a:prstGeom>
          <a:solidFill>
            <a:srgbClr val="E7F0FB"/>
          </a:solidFill>
          <a:ln/>
        </p:spPr>
      </p:sp>
      <p:pic>
        <p:nvPicPr>
          <p:cNvPr id="27" name="Image 4" descr="icons/cart_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5244" y="5238780"/>
            <a:ext cx="275783" cy="275783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223760" y="4965192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Xizmat:  </a:t>
            </a:r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onlayn to'lov, davlat xizmatlari, xarid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548640" y="645566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axborot texnologiyalari asoslari  •  III bob: Internet texnologiyalari va web muhit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6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· RIVOJLANISH TARIXI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 qanday paydo bo'ldi?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292840" y="384048"/>
            <a:ext cx="457200" cy="457200"/>
          </a:xfrm>
          <a:prstGeom prst="ellipse">
            <a:avLst/>
          </a:prstGeom>
          <a:solidFill>
            <a:srgbClr val="1C6DD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234440" y="1783080"/>
            <a:ext cx="0" cy="3931920"/>
          </a:xfrm>
          <a:prstGeom prst="line">
            <a:avLst/>
          </a:prstGeom>
          <a:noFill/>
          <a:ln w="25400">
            <a:solidFill>
              <a:srgbClr val="CFE3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3856" y="1764792"/>
            <a:ext cx="201168" cy="201168"/>
          </a:xfrm>
          <a:prstGeom prst="ellipse">
            <a:avLst/>
          </a:prstGeom>
          <a:solidFill>
            <a:srgbClr val="1C6DD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655064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1969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1636776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ARPANET — internetning "bobosi" AQShda ishga tushdi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133856" y="2313432"/>
            <a:ext cx="201168" cy="201168"/>
          </a:xfrm>
          <a:prstGeom prst="ellipse">
            <a:avLst/>
          </a:prstGeom>
          <a:solidFill>
            <a:srgbClr val="1C6DD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203704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08760" y="2185416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 protokoli asosiy standart sifatida qabul qilindi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133856" y="2862072"/>
            <a:ext cx="201168" cy="201168"/>
          </a:xfrm>
          <a:prstGeom prst="ellipse">
            <a:avLst/>
          </a:prstGeom>
          <a:solidFill>
            <a:srgbClr val="1C6DD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752344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1989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08760" y="2734056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Berners-Li World Wide Web g'oyasini taklif qildi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133856" y="3410712"/>
            <a:ext cx="201168" cy="201168"/>
          </a:xfrm>
          <a:prstGeom prst="ellipse">
            <a:avLst/>
          </a:prstGeom>
          <a:solidFill>
            <a:srgbClr val="1C6DD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300984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1991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282696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Dunyodagi birinchi web sayt ishga tushdi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133856" y="3959352"/>
            <a:ext cx="201168" cy="201168"/>
          </a:xfrm>
          <a:prstGeom prst="ellipse">
            <a:avLst/>
          </a:prstGeom>
          <a:solidFill>
            <a:srgbClr val="1C6DD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849624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1998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08760" y="3831336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qidiruv tizimi tashkil etildi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1133856" y="4507992"/>
            <a:ext cx="201168" cy="201168"/>
          </a:xfrm>
          <a:prstGeom prst="ellipse">
            <a:avLst/>
          </a:prstGeom>
          <a:solidFill>
            <a:srgbClr val="1C6DD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398264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08760" y="4379976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Ijtimoiy tarmoqlar va video xizmatlar davri boshlandi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133856" y="5056632"/>
            <a:ext cx="201168" cy="201168"/>
          </a:xfrm>
          <a:prstGeom prst="ellipse">
            <a:avLst/>
          </a:prstGeom>
          <a:solidFill>
            <a:srgbClr val="1C6DD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946904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2010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508760" y="4928616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 internet va smartfonlar ommalashuvi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1133856" y="5605272"/>
            <a:ext cx="201168" cy="201168"/>
          </a:xfrm>
          <a:prstGeom prst="ellipse">
            <a:avLst/>
          </a:prstGeom>
          <a:solidFill>
            <a:srgbClr val="1C6DD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5495544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Bugun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508760" y="5477256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Bulut, sun'iy intellekt va buyumlar interneti (IoT)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8321040" y="1828800"/>
            <a:ext cx="3337560" cy="3977640"/>
          </a:xfrm>
          <a:prstGeom prst="roundRect">
            <a:avLst>
              <a:gd name="adj" fmla="val 2466"/>
            </a:avLst>
          </a:prstGeom>
          <a:solidFill>
            <a:srgbClr val="0A2540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641080" y="2148840"/>
            <a:ext cx="868680" cy="868680"/>
          </a:xfrm>
          <a:prstGeom prst="ellipse">
            <a:avLst/>
          </a:prstGeom>
          <a:solidFill>
            <a:srgbClr val="1C6DD0"/>
          </a:solidFill>
          <a:ln/>
        </p:spPr>
      </p:sp>
      <p:pic>
        <p:nvPicPr>
          <p:cNvPr id="32" name="Image 0" descr="icons/glob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9563" y="2357323"/>
            <a:ext cx="451714" cy="451714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8641080" y="3154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ta kalit ixtiro</a:t>
            </a:r>
            <a:endParaRPr lang="en-US" sz="1900" dirty="0"/>
          </a:p>
        </p:txBody>
      </p:sp>
      <p:sp>
        <p:nvSpPr>
          <p:cNvPr id="34" name="Text 31"/>
          <p:cNvSpPr/>
          <p:nvPr/>
        </p:nvSpPr>
        <p:spPr>
          <a:xfrm>
            <a:off x="8641080" y="3611880"/>
            <a:ext cx="27889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ARPANET</a:t>
            </a:r>
            <a:endParaRPr lang="en-US" sz="14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tarmoqlarni bog'lash g'oyasi</a:t>
            </a:r>
            <a:endParaRPr lang="en-US" sz="1400" dirty="0"/>
          </a:p>
          <a:p>
            <a:pPr indent="0" marL="0">
              <a:lnSpc>
                <a:spcPts val="1700"/>
              </a:lnSpc>
              <a:buNone/>
            </a:pPr>
            <a:endParaRPr lang="en-US" sz="14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</a:t>
            </a:r>
            <a:endParaRPr lang="en-US" sz="14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umumiy "til" — standart</a:t>
            </a:r>
            <a:endParaRPr lang="en-US" sz="1400" dirty="0"/>
          </a:p>
          <a:p>
            <a:pPr indent="0" marL="0">
              <a:lnSpc>
                <a:spcPts val="1700"/>
              </a:lnSpc>
              <a:buNone/>
            </a:pPr>
            <a:endParaRPr lang="en-US" sz="14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</a:t>
            </a:r>
            <a:endParaRPr lang="en-US" sz="14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havolalar orqali bog'langan sahifalar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548640" y="645566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axborot texnologiyalari asoslari  •  III bob: Internet texnologiyalari va web muhit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6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· JAMIYATDAGI O'RNI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Imkoniyatlar va mas'uliyat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292840" y="384048"/>
            <a:ext cx="457200" cy="457200"/>
          </a:xfrm>
          <a:prstGeom prst="ellipse">
            <a:avLst/>
          </a:prstGeom>
          <a:solidFill>
            <a:srgbClr val="1C6DD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160520"/>
          </a:xfrm>
          <a:prstGeom prst="roundRect">
            <a:avLst>
              <a:gd name="adj" fmla="val 1978"/>
            </a:avLst>
          </a:prstGeom>
          <a:solidFill>
            <a:srgbClr val="EAF6E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65960"/>
            <a:ext cx="777240" cy="777240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7" name="Image 0" descr="icons/check_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2152498"/>
            <a:ext cx="404165" cy="4041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01168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5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 bergan imkoniyatlar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288036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Bilim olish — onlayn kurslar va elektron kutubxonalar</a:t>
            </a:r>
            <a:endParaRPr lang="en-US" sz="13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Ishlash — masofaviy ish va video yig'ilishlar</a:t>
            </a:r>
            <a:endParaRPr lang="en-US" sz="13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Muloqot — messenjer va ijtimoiy tarmoqlar</a:t>
            </a:r>
            <a:endParaRPr lang="en-US" sz="13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Xizmatlar — onlayn to'lov va davlat xizmatlari</a:t>
            </a:r>
            <a:endParaRPr lang="en-US" sz="13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 olish — filmlar, musiqa va o'yinlar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172200" y="1691640"/>
            <a:ext cx="5486400" cy="4160520"/>
          </a:xfrm>
          <a:prstGeom prst="roundRect">
            <a:avLst>
              <a:gd name="adj" fmla="val 1978"/>
            </a:avLst>
          </a:prstGeom>
          <a:solidFill>
            <a:srgbClr val="FBEDED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46520" y="1965960"/>
            <a:ext cx="777240" cy="777240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12" name="Image 1" descr="icons/warn_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058" y="2152498"/>
            <a:ext cx="404165" cy="40416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60920" y="201168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2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muammolar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537960" y="2880360"/>
            <a:ext cx="49377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✕"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Yolg'on va tekshirilmagan axborot tarqalishi</a:t>
            </a:r>
            <a:endParaRPr lang="en-US" sz="13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✕"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Shaxsiy ma'lumotlar xavfsizligiga tahdid</a:t>
            </a:r>
            <a:endParaRPr lang="en-US" sz="13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✕"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Internetga qaramlik va vaqtni nazoratsiz sarflash</a:t>
            </a:r>
            <a:endParaRPr lang="en-US" sz="135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✕"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Firibgarlik va kiber hujumlar xavfi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6537960" y="5074920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i="1" dirty="0">
                <a:solidFill>
                  <a:srgbClr val="8F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Xulosa: internetdan ongli va mas'uliyatli foydalanish — har bir foydalanuvchining vazifasi.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548640" y="645566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axborot texnologiyalari asoslari  •  III bob: Internet texnologiyalari va web muhit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6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· ISHLASH PRINSIPI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Ma'lumotlar qanday uzatiladi?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292840" y="384048"/>
            <a:ext cx="457200" cy="457200"/>
          </a:xfrm>
          <a:prstGeom prst="ellipse">
            <a:avLst/>
          </a:prstGeom>
          <a:solidFill>
            <a:srgbClr val="1C6DD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Internetda ma'lumot paketli uzatish usulida yetkaziladi: katta fayl minglab kichik bo'laklarga bo'linadi.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2615184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532888"/>
            <a:ext cx="502920" cy="502920"/>
          </a:xfrm>
          <a:prstGeom prst="ellipse">
            <a:avLst/>
          </a:prstGeom>
          <a:solidFill>
            <a:srgbClr val="1C6DD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203704" y="2532888"/>
            <a:ext cx="731520" cy="731520"/>
          </a:xfrm>
          <a:prstGeom prst="ellipse">
            <a:avLst/>
          </a:prstGeom>
          <a:solidFill>
            <a:srgbClr val="E7F0FB"/>
          </a:solidFill>
          <a:ln/>
        </p:spPr>
      </p:sp>
      <p:pic>
        <p:nvPicPr>
          <p:cNvPr id="9" name="Image 0" descr="icons/pkg_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9269" y="2708453"/>
            <a:ext cx="380390" cy="38039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3291840"/>
            <a:ext cx="2157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Bo'linish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" y="3657600"/>
            <a:ext cx="21579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Katta fayl (masalan, video) mayda paketlarga ajratiladi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3172968" y="3108960"/>
            <a:ext cx="201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6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3364992" y="2331720"/>
            <a:ext cx="2615184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593592" y="2532888"/>
            <a:ext cx="502920" cy="502920"/>
          </a:xfrm>
          <a:prstGeom prst="ellipse">
            <a:avLst/>
          </a:prstGeom>
          <a:solidFill>
            <a:srgbClr val="1C6DD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5020056" y="2532888"/>
            <a:ext cx="731520" cy="731520"/>
          </a:xfrm>
          <a:prstGeom prst="ellipse">
            <a:avLst/>
          </a:prstGeom>
          <a:solidFill>
            <a:srgbClr val="E7F0FB"/>
          </a:solidFill>
          <a:ln/>
        </p:spPr>
      </p:sp>
      <p:pic>
        <p:nvPicPr>
          <p:cNvPr id="16" name="Image 1" descr="icons/tag_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5621" y="2708453"/>
            <a:ext cx="380390" cy="38039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593592" y="3291840"/>
            <a:ext cx="2157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Manzillash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3593592" y="3657600"/>
            <a:ext cx="21579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paketda jo'natuvchi, qabul qiluvchi va tartib raqami bo'ladi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5989320" y="3108960"/>
            <a:ext cx="201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6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0" name="Shape 16"/>
          <p:cNvSpPr/>
          <p:nvPr/>
        </p:nvSpPr>
        <p:spPr>
          <a:xfrm>
            <a:off x="6181344" y="2331720"/>
            <a:ext cx="2615184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6409944" y="2532888"/>
            <a:ext cx="502920" cy="502920"/>
          </a:xfrm>
          <a:prstGeom prst="ellipse">
            <a:avLst/>
          </a:prstGeom>
          <a:solidFill>
            <a:srgbClr val="1C6DD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7836408" y="2532888"/>
            <a:ext cx="731520" cy="731520"/>
          </a:xfrm>
          <a:prstGeom prst="ellipse">
            <a:avLst/>
          </a:prstGeom>
          <a:solidFill>
            <a:srgbClr val="E7F0FB"/>
          </a:solidFill>
          <a:ln/>
        </p:spPr>
      </p:sp>
      <p:pic>
        <p:nvPicPr>
          <p:cNvPr id="23" name="Image 2" descr="icons/shuffle_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1973" y="2708453"/>
            <a:ext cx="380390" cy="38039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409944" y="3291840"/>
            <a:ext cx="2157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Yo'l topish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6409944" y="3657600"/>
            <a:ext cx="21579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Paketlar turli yo'llar orqali mustaqil harakatlanadi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8805672" y="3108960"/>
            <a:ext cx="201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6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7" name="Shape 22"/>
          <p:cNvSpPr/>
          <p:nvPr/>
        </p:nvSpPr>
        <p:spPr>
          <a:xfrm>
            <a:off x="8997696" y="2331720"/>
            <a:ext cx="2615184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28" name="Text 23"/>
          <p:cNvSpPr/>
          <p:nvPr/>
        </p:nvSpPr>
        <p:spPr>
          <a:xfrm>
            <a:off x="9226296" y="2532888"/>
            <a:ext cx="502920" cy="502920"/>
          </a:xfrm>
          <a:prstGeom prst="ellipse">
            <a:avLst/>
          </a:prstGeom>
          <a:solidFill>
            <a:srgbClr val="1C6DD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Shape 24"/>
          <p:cNvSpPr/>
          <p:nvPr/>
        </p:nvSpPr>
        <p:spPr>
          <a:xfrm>
            <a:off x="10652760" y="2532888"/>
            <a:ext cx="731520" cy="731520"/>
          </a:xfrm>
          <a:prstGeom prst="ellipse">
            <a:avLst/>
          </a:prstGeom>
          <a:solidFill>
            <a:srgbClr val="E7F0FB"/>
          </a:solidFill>
          <a:ln/>
        </p:spPr>
      </p:sp>
      <p:pic>
        <p:nvPicPr>
          <p:cNvPr id="30" name="Image 3" descr="icons/layout_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8325" y="2708453"/>
            <a:ext cx="380390" cy="38039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226296" y="3291840"/>
            <a:ext cx="2157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Qayta yig'ish</a:t>
            </a:r>
            <a:endParaRPr lang="en-US" sz="1500" dirty="0"/>
          </a:p>
        </p:txBody>
      </p:sp>
      <p:sp>
        <p:nvSpPr>
          <p:cNvPr id="32" name="Text 26"/>
          <p:cNvSpPr/>
          <p:nvPr/>
        </p:nvSpPr>
        <p:spPr>
          <a:xfrm>
            <a:off x="9226296" y="3657600"/>
            <a:ext cx="21579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Qabul qiluvchi paketlarni tartib raqami bo'yicha birlashtiradi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548640" y="4754880"/>
            <a:ext cx="11109960" cy="1051560"/>
          </a:xfrm>
          <a:prstGeom prst="roundRect">
            <a:avLst>
              <a:gd name="adj" fmla="val 7826"/>
            </a:avLst>
          </a:prstGeom>
          <a:solidFill>
            <a:srgbClr val="E7F0FB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777240" y="4937760"/>
            <a:ext cx="658368" cy="658368"/>
          </a:xfrm>
          <a:prstGeom prst="ellipse">
            <a:avLst/>
          </a:prstGeom>
          <a:solidFill>
            <a:srgbClr val="1C6DD0"/>
          </a:solidFill>
          <a:ln/>
        </p:spPr>
      </p:sp>
      <p:pic>
        <p:nvPicPr>
          <p:cNvPr id="35" name="Image 4" descr="icons/info_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248" y="5095768"/>
            <a:ext cx="342351" cy="342351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600200" y="4800600"/>
            <a:ext cx="9875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Nima uchun ishonchli?  </a:t>
            </a:r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Biror paket yo'lda yo'qolsa, u qayta so'raladi. Shu tufayli aloqa uzilsa ham ma'lumot to'liq va to'g'ri yetib boradi.</a:t>
            </a:r>
            <a:endParaRPr lang="en-US" sz="1350" dirty="0"/>
          </a:p>
        </p:txBody>
      </p:sp>
      <p:sp>
        <p:nvSpPr>
          <p:cNvPr id="37" name="Text 30"/>
          <p:cNvSpPr/>
          <p:nvPr/>
        </p:nvSpPr>
        <p:spPr>
          <a:xfrm>
            <a:off x="548640" y="645566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axborot texnologiyalari asoslari  •  III bob: Internet texnologiyalari va web muhit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6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· MANZILLAR TIZIMI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 manzil, domen nomi va DNS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292840" y="384048"/>
            <a:ext cx="457200" cy="457200"/>
          </a:xfrm>
          <a:prstGeom prst="ellipse">
            <a:avLst/>
          </a:prstGeom>
          <a:solidFill>
            <a:srgbClr val="1C6DD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56616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920240"/>
            <a:ext cx="822960" cy="822960"/>
          </a:xfrm>
          <a:prstGeom prst="ellipse">
            <a:avLst/>
          </a:prstGeom>
          <a:solidFill>
            <a:srgbClr val="1C6DD0"/>
          </a:solidFill>
          <a:ln/>
        </p:spPr>
      </p:sp>
      <p:pic>
        <p:nvPicPr>
          <p:cNvPr id="7" name="Image 0" descr="icons/server_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182" y="2117750"/>
            <a:ext cx="427939" cy="42793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196596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 manzil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04672" y="2880360"/>
            <a:ext cx="3063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serverning raqamli manzili. Aniq, lekin eslab qolish qiyin (masalan, 142.250.185.14).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04672" y="3931920"/>
            <a:ext cx="3054096" cy="411480"/>
          </a:xfrm>
          <a:prstGeom prst="roundRect">
            <a:avLst>
              <a:gd name="adj" fmla="val 13333"/>
            </a:avLst>
          </a:prstGeom>
          <a:solidFill>
            <a:srgbClr val="E7F0FB"/>
          </a:solidFill>
          <a:ln/>
        </p:spPr>
      </p:sp>
      <p:sp>
        <p:nvSpPr>
          <p:cNvPr id="11" name="Text 8"/>
          <p:cNvSpPr/>
          <p:nvPr/>
        </p:nvSpPr>
        <p:spPr>
          <a:xfrm>
            <a:off x="932688" y="39319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C6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O'xshatish: </a:t>
            </a:r>
            <a:pPr indent="0" marL="0">
              <a:buNone/>
            </a:pPr>
            <a:r>
              <a:rPr lang="en-US" sz="1050" i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Uyning geografik koordinatasi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315968" y="1645920"/>
            <a:ext cx="356616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0" y="1920240"/>
            <a:ext cx="822960" cy="822960"/>
          </a:xfrm>
          <a:prstGeom prst="ellipse">
            <a:avLst/>
          </a:prstGeom>
          <a:solidFill>
            <a:srgbClr val="1C6DD0"/>
          </a:solidFill>
          <a:ln/>
        </p:spPr>
      </p:sp>
      <p:pic>
        <p:nvPicPr>
          <p:cNvPr id="14" name="Image 1" descr="icons/globe_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9510" y="2117750"/>
            <a:ext cx="427939" cy="42793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04688" y="196596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Domen nomi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572000" y="2880360"/>
            <a:ext cx="3063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Saytning inson o'qiy oladigan nomi: gov.uz, google.com. Eslab qolish oson.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572000" y="3931920"/>
            <a:ext cx="3054096" cy="411480"/>
          </a:xfrm>
          <a:prstGeom prst="roundRect">
            <a:avLst>
              <a:gd name="adj" fmla="val 13333"/>
            </a:avLst>
          </a:prstGeom>
          <a:solidFill>
            <a:srgbClr val="E7F0FB"/>
          </a:solidFill>
          <a:ln/>
        </p:spPr>
      </p:sp>
      <p:sp>
        <p:nvSpPr>
          <p:cNvPr id="18" name="Text 14"/>
          <p:cNvSpPr/>
          <p:nvPr/>
        </p:nvSpPr>
        <p:spPr>
          <a:xfrm>
            <a:off x="4700016" y="39319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C6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O'xshatish: </a:t>
            </a:r>
            <a:pPr indent="0" marL="0">
              <a:buNone/>
            </a:pPr>
            <a:r>
              <a:rPr lang="en-US" sz="1050" i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Pochta manzili (ko'cha, uy)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8083296" y="1645920"/>
            <a:ext cx="356616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39328" y="1920240"/>
            <a:ext cx="822960" cy="822960"/>
          </a:xfrm>
          <a:prstGeom prst="ellipse">
            <a:avLst/>
          </a:prstGeom>
          <a:solidFill>
            <a:srgbClr val="1C6DD0"/>
          </a:solidFill>
          <a:ln/>
        </p:spPr>
      </p:sp>
      <p:pic>
        <p:nvPicPr>
          <p:cNvPr id="21" name="Image 2" descr="icons/refresh_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6838" y="2117750"/>
            <a:ext cx="427939" cy="427939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272016" y="196596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DNS tizimi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8339328" y="2880360"/>
            <a:ext cx="3063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Domen nomini IP manzilga aylantiruvchi "internet telefon kitobi". Soniya ulushida ishlaydi.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8339328" y="3931920"/>
            <a:ext cx="3054096" cy="411480"/>
          </a:xfrm>
          <a:prstGeom prst="roundRect">
            <a:avLst>
              <a:gd name="adj" fmla="val 13333"/>
            </a:avLst>
          </a:prstGeom>
          <a:solidFill>
            <a:srgbClr val="E7F0FB"/>
          </a:solidFill>
          <a:ln/>
        </p:spPr>
      </p:sp>
      <p:sp>
        <p:nvSpPr>
          <p:cNvPr id="25" name="Text 20"/>
          <p:cNvSpPr/>
          <p:nvPr/>
        </p:nvSpPr>
        <p:spPr>
          <a:xfrm>
            <a:off x="8467344" y="39319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C6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O'xshatish: </a:t>
            </a:r>
            <a:pPr indent="0" marL="0">
              <a:buNone/>
            </a:pPr>
            <a:r>
              <a:rPr lang="en-US" sz="1050" i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Ma'lumotnoma / bog'lovchi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548640" y="4709160"/>
            <a:ext cx="11109960" cy="1097280"/>
          </a:xfrm>
          <a:prstGeom prst="roundRect">
            <a:avLst>
              <a:gd name="adj" fmla="val 7500"/>
            </a:avLst>
          </a:prstGeom>
          <a:solidFill>
            <a:srgbClr val="0A2540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777240" y="482803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DOMEN DARAJALARI: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777240" y="513892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Yuqori daraja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777240" y="541324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.uz  .com  .org  .edu  .gov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4434840" y="513892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Ikkinchi daraja</a:t>
            </a:r>
            <a:endParaRPr lang="en-US" sz="1150" dirty="0"/>
          </a:p>
        </p:txBody>
      </p:sp>
      <p:sp>
        <p:nvSpPr>
          <p:cNvPr id="31" name="Text 26"/>
          <p:cNvSpPr/>
          <p:nvPr/>
        </p:nvSpPr>
        <p:spPr>
          <a:xfrm>
            <a:off x="4434840" y="541324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gov.uz  ·  google.com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8092440" y="513892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Uchinchi (subdomen)</a:t>
            </a:r>
            <a:endParaRPr lang="en-US" sz="1150" dirty="0"/>
          </a:p>
        </p:txBody>
      </p:sp>
      <p:sp>
        <p:nvSpPr>
          <p:cNvPr id="33" name="Text 28"/>
          <p:cNvSpPr/>
          <p:nvPr/>
        </p:nvSpPr>
        <p:spPr>
          <a:xfrm>
            <a:off x="8092440" y="541324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my.gov.uz  ·  mail.google.com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548640" y="645566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axborot texnologiyalari asoslari  •  III bob: Internet texnologiyalari va web muhit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6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· WEB MUHIT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sahifa va web sayt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292840" y="384048"/>
            <a:ext cx="457200" cy="457200"/>
          </a:xfrm>
          <a:prstGeom prst="ellipse">
            <a:avLst/>
          </a:prstGeom>
          <a:solidFill>
            <a:srgbClr val="1C6DD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65960"/>
            <a:ext cx="777240" cy="777240"/>
          </a:xfrm>
          <a:prstGeom prst="ellipse">
            <a:avLst/>
          </a:prstGeom>
          <a:solidFill>
            <a:srgbClr val="1C6DD0"/>
          </a:solidFill>
          <a:ln/>
        </p:spPr>
      </p:sp>
      <p:pic>
        <p:nvPicPr>
          <p:cNvPr id="7" name="Image 0" descr="icons/file_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2152498"/>
            <a:ext cx="404165" cy="4041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0116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sahifa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278892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Brauzerda ochiladigan bitta hujjat — matn, rasm, video va havolalarni o'z ichiga oladi.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63640" y="169164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37960" y="1965960"/>
            <a:ext cx="777240" cy="777240"/>
          </a:xfrm>
          <a:prstGeom prst="ellipse">
            <a:avLst/>
          </a:prstGeom>
          <a:solidFill>
            <a:srgbClr val="1C6DD0"/>
          </a:solidFill>
          <a:ln/>
        </p:spPr>
      </p:sp>
      <p:pic>
        <p:nvPicPr>
          <p:cNvPr id="12" name="Image 1" descr="icons/layout_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498" y="2152498"/>
            <a:ext cx="404165" cy="40416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98080" y="20116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sayt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537960" y="278892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Umumiy mavzu va dizayn bilan bog'langan web sahifalar to'plami. Kirish sahifasi — bosh sahifa (homepage).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3794760"/>
            <a:ext cx="11109960" cy="2011680"/>
          </a:xfrm>
          <a:prstGeom prst="roundRect">
            <a:avLst>
              <a:gd name="adj" fmla="val 4091"/>
            </a:avLst>
          </a:prstGeom>
          <a:solidFill>
            <a:srgbClr val="0A2540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8680" y="4114800"/>
            <a:ext cx="960120" cy="960120"/>
          </a:xfrm>
          <a:prstGeom prst="ellipse">
            <a:avLst/>
          </a:prstGeom>
          <a:solidFill>
            <a:srgbClr val="1C6DD0"/>
          </a:solidFill>
          <a:ln/>
        </p:spPr>
      </p:sp>
      <p:pic>
        <p:nvPicPr>
          <p:cNvPr id="17" name="Image 2" descr="icons/link_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109" y="4345229"/>
            <a:ext cx="499262" cy="49926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011680" y="4114800"/>
            <a:ext cx="9418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Giperhavola (link) — butun webni bog'lovchi element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2011680" y="4800600"/>
            <a:ext cx="9418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Bosilganda boshqa sahifaga olib o'tuvchi element. Aynan havolalar millionlab sahifani yagona "to'r"ga bog'laydi — shundan World Wide Web, ya'ni "butun dunyo to'ri" nomi kelib chiqqan.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548640" y="645566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axborot texnologiyalari asoslari  •  III bob: Internet texnologiyalari va web muhit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6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· WEB TEXNOLOGIYALAR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sahifa nimadan tuzilgan?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292840" y="384048"/>
            <a:ext cx="457200" cy="457200"/>
          </a:xfrm>
          <a:prstGeom prst="ellipse">
            <a:avLst/>
          </a:prstGeom>
          <a:solidFill>
            <a:srgbClr val="1C6DD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bir web sahifa uchta asosiy texnologiya asosida quriladi. Ularni bino qurishga o'xshatish mumkin: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566160" cy="3429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148840"/>
            <a:ext cx="3566160" cy="914400"/>
          </a:xfrm>
          <a:prstGeom prst="roundRect">
            <a:avLst>
              <a:gd name="adj" fmla="val 9000"/>
            </a:avLst>
          </a:prstGeom>
          <a:solidFill>
            <a:srgbClr val="1C6DD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606040"/>
            <a:ext cx="3566160" cy="457200"/>
          </a:xfrm>
          <a:prstGeom prst="rect">
            <a:avLst/>
          </a:prstGeom>
          <a:solidFill>
            <a:srgbClr val="1C6DD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295144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</a:t>
            </a:r>
            <a:endParaRPr lang="en-US" sz="2200" dirty="0"/>
          </a:p>
        </p:txBody>
      </p:sp>
      <p:pic>
        <p:nvPicPr>
          <p:cNvPr id="10" name="Image 0" descr="icons/type_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2404872"/>
            <a:ext cx="402336" cy="40233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2960" y="3200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6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Tuzilish va mazmun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22960" y="3611880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Sarlavhalar, matnlar, rasmlar va havolalar — sahifaning "skeleti".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22960" y="4846320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E7F0FB"/>
          </a:solidFill>
          <a:ln/>
        </p:spPr>
      </p:sp>
      <p:sp>
        <p:nvSpPr>
          <p:cNvPr id="14" name="Text 11"/>
          <p:cNvSpPr/>
          <p:nvPr/>
        </p:nvSpPr>
        <p:spPr>
          <a:xfrm>
            <a:off x="932688" y="48463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Binoning devorlari va xonalari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315968" y="2148840"/>
            <a:ext cx="3566160" cy="3429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15968" y="2148840"/>
            <a:ext cx="3566160" cy="914400"/>
          </a:xfrm>
          <a:prstGeom prst="roundRect">
            <a:avLst>
              <a:gd name="adj" fmla="val 9000"/>
            </a:avLst>
          </a:prstGeom>
          <a:solidFill>
            <a:srgbClr val="123A63"/>
          </a:solidFill>
          <a:ln/>
        </p:spPr>
      </p:sp>
      <p:sp>
        <p:nvSpPr>
          <p:cNvPr id="17" name="Shape 14"/>
          <p:cNvSpPr/>
          <p:nvPr/>
        </p:nvSpPr>
        <p:spPr>
          <a:xfrm>
            <a:off x="4315968" y="2606040"/>
            <a:ext cx="3566160" cy="457200"/>
          </a:xfrm>
          <a:prstGeom prst="rect">
            <a:avLst/>
          </a:prstGeom>
          <a:solidFill>
            <a:srgbClr val="123A63"/>
          </a:solidFill>
          <a:ln/>
        </p:spPr>
      </p:sp>
      <p:sp>
        <p:nvSpPr>
          <p:cNvPr id="18" name="Text 15"/>
          <p:cNvSpPr/>
          <p:nvPr/>
        </p:nvSpPr>
        <p:spPr>
          <a:xfrm>
            <a:off x="4590288" y="2295144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</a:t>
            </a:r>
            <a:endParaRPr lang="en-US" sz="2200" dirty="0"/>
          </a:p>
        </p:txBody>
      </p:sp>
      <p:pic>
        <p:nvPicPr>
          <p:cNvPr id="19" name="Image 1" descr="icons/set_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3448" y="2404872"/>
            <a:ext cx="402336" cy="40233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590288" y="3200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6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Ko'rinish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4590288" y="3611880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Ranglar, shriftlar va joylashuv — sahifani chiroyli qiladi.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590288" y="4846320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E7F0FB"/>
          </a:solidFill>
          <a:ln/>
        </p:spPr>
      </p:sp>
      <p:sp>
        <p:nvSpPr>
          <p:cNvPr id="23" name="Text 19"/>
          <p:cNvSpPr/>
          <p:nvPr/>
        </p:nvSpPr>
        <p:spPr>
          <a:xfrm>
            <a:off x="4700016" y="48463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Bino bezagi va ta'miri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8083296" y="2148840"/>
            <a:ext cx="3566160" cy="3429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8083296" y="2148840"/>
            <a:ext cx="3566160" cy="914400"/>
          </a:xfrm>
          <a:prstGeom prst="roundRect">
            <a:avLst>
              <a:gd name="adj" fmla="val 9000"/>
            </a:avLst>
          </a:prstGeom>
          <a:solidFill>
            <a:srgbClr val="0A2540"/>
          </a:solidFill>
          <a:ln/>
        </p:spPr>
      </p:sp>
      <p:sp>
        <p:nvSpPr>
          <p:cNvPr id="26" name="Shape 22"/>
          <p:cNvSpPr/>
          <p:nvPr/>
        </p:nvSpPr>
        <p:spPr>
          <a:xfrm>
            <a:off x="8083296" y="2606040"/>
            <a:ext cx="3566160" cy="4572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27" name="Text 23"/>
          <p:cNvSpPr/>
          <p:nvPr/>
        </p:nvSpPr>
        <p:spPr>
          <a:xfrm>
            <a:off x="8357616" y="2295144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</a:t>
            </a:r>
            <a:endParaRPr lang="en-US" sz="2200" dirty="0"/>
          </a:p>
        </p:txBody>
      </p:sp>
      <p:pic>
        <p:nvPicPr>
          <p:cNvPr id="28" name="Image 2" descr="icons/zap_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0776" y="2404872"/>
            <a:ext cx="402336" cy="402336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8357616" y="3200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6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Harakat</a:t>
            </a:r>
            <a:endParaRPr lang="en-US" sz="1350" dirty="0"/>
          </a:p>
        </p:txBody>
      </p:sp>
      <p:sp>
        <p:nvSpPr>
          <p:cNvPr id="30" name="Text 25"/>
          <p:cNvSpPr/>
          <p:nvPr/>
        </p:nvSpPr>
        <p:spPr>
          <a:xfrm>
            <a:off x="8357616" y="3611880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Tugmalar, animatsiyalar va interaktivlik — sahifani "jonli" qiladi.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8357616" y="4846320"/>
            <a:ext cx="3017520" cy="548640"/>
          </a:xfrm>
          <a:prstGeom prst="roundRect">
            <a:avLst>
              <a:gd name="adj" fmla="val 10000"/>
            </a:avLst>
          </a:prstGeom>
          <a:solidFill>
            <a:srgbClr val="E7F0FB"/>
          </a:solidFill>
          <a:ln/>
        </p:spPr>
      </p:sp>
      <p:sp>
        <p:nvSpPr>
          <p:cNvPr id="32" name="Text 27"/>
          <p:cNvSpPr/>
          <p:nvPr/>
        </p:nvSpPr>
        <p:spPr>
          <a:xfrm>
            <a:off x="8467344" y="48463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Elektr, lift va aqlli tizimlar</a:t>
            </a:r>
            <a:endParaRPr lang="en-US" sz="1050" dirty="0"/>
          </a:p>
        </p:txBody>
      </p:sp>
      <p:sp>
        <p:nvSpPr>
          <p:cNvPr id="33" name="Text 28"/>
          <p:cNvSpPr/>
          <p:nvPr/>
        </p:nvSpPr>
        <p:spPr>
          <a:xfrm>
            <a:off x="548640" y="645566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axborot texnologiyalari asoslari  •  III bob: Internet texnologiyalari va web muhit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6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· MANZIL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URL — sahifaning manzili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292840" y="384048"/>
            <a:ext cx="457200" cy="457200"/>
          </a:xfrm>
          <a:prstGeom prst="ellipse">
            <a:avLst/>
          </a:prstGeom>
          <a:solidFill>
            <a:srgbClr val="1C6DD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(Uniform Resource Locator) — internetdagi har bir sahifa yoki faylning yagona manzili.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1C6DD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86000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26440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6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Protokol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43784" y="2286000"/>
            <a:ext cx="2880360" cy="868680"/>
          </a:xfrm>
          <a:prstGeom prst="roundRect">
            <a:avLst>
              <a:gd name="adj" fmla="val 8421"/>
            </a:avLst>
          </a:prstGeom>
          <a:solidFill>
            <a:srgbClr val="0A2540"/>
          </a:solidFill>
          <a:ln/>
        </p:spPr>
      </p:sp>
      <p:sp>
        <p:nvSpPr>
          <p:cNvPr id="10" name="Text 8"/>
          <p:cNvSpPr/>
          <p:nvPr/>
        </p:nvSpPr>
        <p:spPr>
          <a:xfrm>
            <a:off x="2843784" y="228600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www.edu.uz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843784" y="326440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Domen nomi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70448" y="228600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123A63"/>
          </a:solidFill>
          <a:ln/>
        </p:spPr>
      </p:sp>
      <p:sp>
        <p:nvSpPr>
          <p:cNvPr id="13" name="Text 11"/>
          <p:cNvSpPr/>
          <p:nvPr/>
        </p:nvSpPr>
        <p:spPr>
          <a:xfrm>
            <a:off x="5870448" y="228600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/kurslar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70448" y="326440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Sahifa yo'li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36992" y="228600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5A7085"/>
          </a:solidFill>
          <a:ln/>
        </p:spPr>
      </p:sp>
      <p:sp>
        <p:nvSpPr>
          <p:cNvPr id="16" name="Text 14"/>
          <p:cNvSpPr/>
          <p:nvPr/>
        </p:nvSpPr>
        <p:spPr>
          <a:xfrm>
            <a:off x="7936992" y="2286000"/>
            <a:ext cx="1417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?id=5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936992" y="3264408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Parametrlar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4206240"/>
            <a:ext cx="640080" cy="640080"/>
          </a:xfrm>
          <a:prstGeom prst="ellipse">
            <a:avLst/>
          </a:prstGeom>
          <a:solidFill>
            <a:srgbClr val="E7F0FB"/>
          </a:solidFill>
          <a:ln/>
        </p:spPr>
      </p:sp>
      <p:pic>
        <p:nvPicPr>
          <p:cNvPr id="20" name="Image 0" descr="icons/lock_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4359859"/>
            <a:ext cx="332842" cy="33284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508760" y="4233672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https:// — xavfsiz ulanish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777240" y="49377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Ulanish shifrlangan; brauzer satrida qulf belgisi ko'rinadi. Parol va karta ma'lumotlari himoyalanadi.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315968" y="397764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544568" y="4206240"/>
            <a:ext cx="640080" cy="640080"/>
          </a:xfrm>
          <a:prstGeom prst="ellipse">
            <a:avLst/>
          </a:prstGeom>
          <a:solidFill>
            <a:srgbClr val="E7F0FB"/>
          </a:solidFill>
          <a:ln/>
        </p:spPr>
      </p:sp>
      <p:pic>
        <p:nvPicPr>
          <p:cNvPr id="25" name="Image 1" descr="icons/globe_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8187" y="4359859"/>
            <a:ext cx="332842" cy="33284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276088" y="4233672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Domen — sayt egasi</a:t>
            </a:r>
            <a:endParaRPr lang="en-US" sz="1350" dirty="0"/>
          </a:p>
        </p:txBody>
      </p:sp>
      <p:sp>
        <p:nvSpPr>
          <p:cNvPr id="27" name="Text 23"/>
          <p:cNvSpPr/>
          <p:nvPr/>
        </p:nvSpPr>
        <p:spPr>
          <a:xfrm>
            <a:off x="4544568" y="49377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Saytning nomi va yuqori daraja domeni (.uz, .com). Manzilning eng muhim, tanilgan qismi.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8083296" y="397764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8311896" y="4206240"/>
            <a:ext cx="640080" cy="640080"/>
          </a:xfrm>
          <a:prstGeom prst="ellipse">
            <a:avLst/>
          </a:prstGeom>
          <a:solidFill>
            <a:srgbClr val="E7F0FB"/>
          </a:solidFill>
          <a:ln/>
        </p:spPr>
      </p:sp>
      <p:pic>
        <p:nvPicPr>
          <p:cNvPr id="30" name="Image 2" descr="icons/file_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5515" y="4359859"/>
            <a:ext cx="332842" cy="332842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9043416" y="4233672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Yo'l va parametrlar</a:t>
            </a:r>
            <a:endParaRPr lang="en-US" sz="1350" dirty="0"/>
          </a:p>
        </p:txBody>
      </p:sp>
      <p:sp>
        <p:nvSpPr>
          <p:cNvPr id="32" name="Text 27"/>
          <p:cNvSpPr/>
          <p:nvPr/>
        </p:nvSpPr>
        <p:spPr>
          <a:xfrm>
            <a:off x="8311896" y="49377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Sayt ichidagi aniq sahifa yoki fayl manzili hamda qidiruv/filtr uchun qo'shimcha ma'lumotlar.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548640" y="645566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axborot texnologiyalari asoslari  •  III bob: Internet texnologiyalari va web muhit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6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· WEB BRAUZERLAR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Brauzer nima va nima qiladi?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292840" y="384048"/>
            <a:ext cx="457200" cy="457200"/>
          </a:xfrm>
          <a:prstGeom prst="ellipse">
            <a:avLst/>
          </a:prstGeom>
          <a:solidFill>
            <a:srgbClr val="1C6DD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074920" cy="4114800"/>
          </a:xfrm>
          <a:prstGeom prst="roundRect">
            <a:avLst>
              <a:gd name="adj" fmla="val 2000"/>
            </a:avLst>
          </a:prstGeom>
          <a:solidFill>
            <a:srgbClr val="0A2540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011680"/>
            <a:ext cx="960120" cy="960120"/>
          </a:xfrm>
          <a:prstGeom prst="ellipse">
            <a:avLst/>
          </a:prstGeom>
          <a:solidFill>
            <a:srgbClr val="1C6DD0"/>
          </a:solidFill>
          <a:ln/>
        </p:spPr>
      </p:sp>
      <p:pic>
        <p:nvPicPr>
          <p:cNvPr id="7" name="Image 0" descr="icons/monitor_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109" y="2242109"/>
            <a:ext cx="499262" cy="4992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11680" y="205740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brauzer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68680" y="301752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sahifalarni serverdan olib, foydalanuvchiga ko'rsatib beruvchi dastur.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868680" y="3977640"/>
            <a:ext cx="4480560" cy="0"/>
          </a:xfrm>
          <a:prstGeom prst="line">
            <a:avLst/>
          </a:prstGeom>
          <a:noFill/>
          <a:ln w="12700">
            <a:solidFill>
              <a:srgbClr val="2A4E7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416052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Qanday ishlaydi?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Brauzer HTML, CSS va JavaScript kodlarini "o'qiydi" va ularni biz ko'radigan chiroyli, interaktiv sahifaga aylantiradi.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943600" y="173736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6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KENG TARQALGAN BRAUZERLAR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943600" y="2148840"/>
            <a:ext cx="571500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108192" y="2267712"/>
            <a:ext cx="402336" cy="402336"/>
          </a:xfrm>
          <a:prstGeom prst="ellipse">
            <a:avLst/>
          </a:prstGeom>
          <a:solidFill>
            <a:srgbClr val="1C6DD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629400" y="21488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Chrome  </a:t>
            </a:r>
            <a:pPr indent="0" marL="0">
              <a:buNone/>
            </a:pPr>
            <a:r>
              <a:rPr lang="en-US" sz="115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Eng ommabop; tez, kengaytmalari ko'p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943600" y="2898648"/>
            <a:ext cx="571500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108192" y="3017520"/>
            <a:ext cx="402336" cy="402336"/>
          </a:xfrm>
          <a:prstGeom prst="ellipse">
            <a:avLst/>
          </a:prstGeom>
          <a:solidFill>
            <a:srgbClr val="1C6DD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629400" y="2898648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Mozilla Firefox  </a:t>
            </a:r>
            <a:pPr indent="0" marL="0">
              <a:buNone/>
            </a:pPr>
            <a:r>
              <a:rPr lang="en-US" sz="115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Ochiq kodli, maxfiylikka e'tiborli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943600" y="3648456"/>
            <a:ext cx="571500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108192" y="3767328"/>
            <a:ext cx="402336" cy="402336"/>
          </a:xfrm>
          <a:prstGeom prst="ellipse">
            <a:avLst/>
          </a:prstGeom>
          <a:solidFill>
            <a:srgbClr val="1C6DD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629400" y="3648456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Edge  </a:t>
            </a:r>
            <a:pPr indent="0" marL="0">
              <a:buNone/>
            </a:pPr>
            <a:r>
              <a:rPr lang="en-US" sz="115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Windows bilan keladi, tejamkor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943600" y="4398264"/>
            <a:ext cx="571500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108192" y="4517136"/>
            <a:ext cx="402336" cy="402336"/>
          </a:xfrm>
          <a:prstGeom prst="ellipse">
            <a:avLst/>
          </a:prstGeom>
          <a:solidFill>
            <a:srgbClr val="1C6DD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629400" y="4398264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Safari  </a:t>
            </a:r>
            <a:pPr indent="0" marL="0">
              <a:buNone/>
            </a:pPr>
            <a:r>
              <a:rPr lang="en-US" sz="115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Apple qurilmalarining standart brauzeri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943600" y="5148072"/>
            <a:ext cx="571500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108192" y="5266944"/>
            <a:ext cx="402336" cy="402336"/>
          </a:xfrm>
          <a:prstGeom prst="ellipse">
            <a:avLst/>
          </a:prstGeom>
          <a:solidFill>
            <a:srgbClr val="1C6DD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629400" y="5148072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  </a:t>
            </a:r>
            <a:pPr indent="0" marL="0">
              <a:buNone/>
            </a:pPr>
            <a:r>
              <a:rPr lang="en-US" sz="115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O'rnatilgan VPN va tejash rejimlari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48640" y="645566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axborot texnologiyalari asoslari  •  III bob: Internet texnologiyalari va web muhit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6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· FOYDALI IMKONIYATLAR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Brauzerning asosiy funksiyalari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292840" y="384048"/>
            <a:ext cx="457200" cy="457200"/>
          </a:xfrm>
          <a:prstGeom prst="ellipse">
            <a:avLst/>
          </a:prstGeom>
          <a:solidFill>
            <a:srgbClr val="1C6DD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529584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1883664"/>
            <a:ext cx="658368" cy="658368"/>
          </a:xfrm>
          <a:prstGeom prst="ellipse">
            <a:avLst/>
          </a:prstGeom>
          <a:solidFill>
            <a:srgbClr val="E7F0FB"/>
          </a:solidFill>
          <a:ln/>
        </p:spPr>
      </p:sp>
      <p:pic>
        <p:nvPicPr>
          <p:cNvPr id="7" name="Image 0" descr="icons/layout_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104" y="2041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36192" y="1865376"/>
            <a:ext cx="2386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Varaqlar (tabs)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536192" y="2212848"/>
            <a:ext cx="2386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Bitta oynada bir nechta sahifa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68096" y="2670048"/>
            <a:ext cx="3090672" cy="384048"/>
          </a:xfrm>
          <a:prstGeom prst="roundRect">
            <a:avLst>
              <a:gd name="adj" fmla="val 14286"/>
            </a:avLst>
          </a:prstGeom>
          <a:solidFill>
            <a:srgbClr val="0A2540"/>
          </a:solidFill>
          <a:ln/>
        </p:spPr>
      </p:sp>
      <p:sp>
        <p:nvSpPr>
          <p:cNvPr id="11" name="Text 8"/>
          <p:cNvSpPr/>
          <p:nvPr/>
        </p:nvSpPr>
        <p:spPr>
          <a:xfrm>
            <a:off x="768096" y="2670048"/>
            <a:ext cx="3090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+ 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51960" y="1645920"/>
            <a:ext cx="3529584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71416" y="1883664"/>
            <a:ext cx="658368" cy="658368"/>
          </a:xfrm>
          <a:prstGeom prst="ellipse">
            <a:avLst/>
          </a:prstGeom>
          <a:solidFill>
            <a:srgbClr val="E7F0FB"/>
          </a:solidFill>
          <a:ln/>
        </p:spPr>
      </p:sp>
      <p:pic>
        <p:nvPicPr>
          <p:cNvPr id="14" name="Image 1" descr="icons/star_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424" y="2041672"/>
            <a:ext cx="342351" cy="34235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39512" y="1865376"/>
            <a:ext cx="2386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Xatcho'plar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239512" y="2212848"/>
            <a:ext cx="2386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Sevimli sahifalarni saqlash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471416" y="2670048"/>
            <a:ext cx="3090672" cy="384048"/>
          </a:xfrm>
          <a:prstGeom prst="roundRect">
            <a:avLst>
              <a:gd name="adj" fmla="val 14286"/>
            </a:avLst>
          </a:prstGeom>
          <a:solidFill>
            <a:srgbClr val="0A2540"/>
          </a:solidFill>
          <a:ln/>
        </p:spPr>
      </p:sp>
      <p:sp>
        <p:nvSpPr>
          <p:cNvPr id="18" name="Text 14"/>
          <p:cNvSpPr/>
          <p:nvPr/>
        </p:nvSpPr>
        <p:spPr>
          <a:xfrm>
            <a:off x="4471416" y="2670048"/>
            <a:ext cx="3090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+ D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7955280" y="1645920"/>
            <a:ext cx="3529584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174736" y="1883664"/>
            <a:ext cx="658368" cy="658368"/>
          </a:xfrm>
          <a:prstGeom prst="ellipse">
            <a:avLst/>
          </a:prstGeom>
          <a:solidFill>
            <a:srgbClr val="E7F0FB"/>
          </a:solidFill>
          <a:ln/>
        </p:spPr>
      </p:sp>
      <p:pic>
        <p:nvPicPr>
          <p:cNvPr id="21" name="Image 2" descr="icons/refresh_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2744" y="2041672"/>
            <a:ext cx="342351" cy="342351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942832" y="1865376"/>
            <a:ext cx="2386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Tarix (history)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8942832" y="2212848"/>
            <a:ext cx="2386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Ochilgan sahifalar ro'yxati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8174736" y="2670048"/>
            <a:ext cx="3090672" cy="384048"/>
          </a:xfrm>
          <a:prstGeom prst="roundRect">
            <a:avLst>
              <a:gd name="adj" fmla="val 14286"/>
            </a:avLst>
          </a:prstGeom>
          <a:solidFill>
            <a:srgbClr val="0A2540"/>
          </a:solidFill>
          <a:ln/>
        </p:spPr>
      </p:sp>
      <p:sp>
        <p:nvSpPr>
          <p:cNvPr id="25" name="Text 20"/>
          <p:cNvSpPr/>
          <p:nvPr/>
        </p:nvSpPr>
        <p:spPr>
          <a:xfrm>
            <a:off x="8174736" y="2670048"/>
            <a:ext cx="3090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+ H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548640" y="3383280"/>
            <a:ext cx="3529584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68096" y="3621024"/>
            <a:ext cx="658368" cy="658368"/>
          </a:xfrm>
          <a:prstGeom prst="ellipse">
            <a:avLst/>
          </a:prstGeom>
          <a:solidFill>
            <a:srgbClr val="E7F0FB"/>
          </a:solidFill>
          <a:ln/>
        </p:spPr>
      </p:sp>
      <p:pic>
        <p:nvPicPr>
          <p:cNvPr id="28" name="Image 3" descr="icons/down_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104" y="3779032"/>
            <a:ext cx="342351" cy="342351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536192" y="3602736"/>
            <a:ext cx="2386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Yuklamalar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1536192" y="3950208"/>
            <a:ext cx="2386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Yuklab olingan fayllar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768096" y="4407408"/>
            <a:ext cx="3090672" cy="384048"/>
          </a:xfrm>
          <a:prstGeom prst="roundRect">
            <a:avLst>
              <a:gd name="adj" fmla="val 14286"/>
            </a:avLst>
          </a:prstGeom>
          <a:solidFill>
            <a:srgbClr val="0A2540"/>
          </a:solidFill>
          <a:ln/>
        </p:spPr>
      </p:sp>
      <p:sp>
        <p:nvSpPr>
          <p:cNvPr id="32" name="Text 26"/>
          <p:cNvSpPr/>
          <p:nvPr/>
        </p:nvSpPr>
        <p:spPr>
          <a:xfrm>
            <a:off x="768096" y="4407408"/>
            <a:ext cx="3090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+ J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4251960" y="3383280"/>
            <a:ext cx="3529584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4471416" y="3621024"/>
            <a:ext cx="658368" cy="658368"/>
          </a:xfrm>
          <a:prstGeom prst="ellipse">
            <a:avLst/>
          </a:prstGeom>
          <a:solidFill>
            <a:srgbClr val="E7F0FB"/>
          </a:solidFill>
          <a:ln/>
        </p:spPr>
      </p:sp>
      <p:pic>
        <p:nvPicPr>
          <p:cNvPr id="35" name="Image 4" descr="icons/search_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9424" y="3779032"/>
            <a:ext cx="342351" cy="342351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239512" y="3602736"/>
            <a:ext cx="2386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Sahifadan qidirish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5239512" y="3950208"/>
            <a:ext cx="2386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Ochiq sahifada so'z topish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4471416" y="4407408"/>
            <a:ext cx="3090672" cy="384048"/>
          </a:xfrm>
          <a:prstGeom prst="roundRect">
            <a:avLst>
              <a:gd name="adj" fmla="val 14286"/>
            </a:avLst>
          </a:prstGeom>
          <a:solidFill>
            <a:srgbClr val="0A2540"/>
          </a:solidFill>
          <a:ln/>
        </p:spPr>
      </p:sp>
      <p:sp>
        <p:nvSpPr>
          <p:cNvPr id="39" name="Text 32"/>
          <p:cNvSpPr/>
          <p:nvPr/>
        </p:nvSpPr>
        <p:spPr>
          <a:xfrm>
            <a:off x="4471416" y="4407408"/>
            <a:ext cx="3090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+ F</a:t>
            </a:r>
            <a:endParaRPr lang="en-US" sz="1200" dirty="0"/>
          </a:p>
        </p:txBody>
      </p:sp>
      <p:sp>
        <p:nvSpPr>
          <p:cNvPr id="40" name="Shape 33"/>
          <p:cNvSpPr/>
          <p:nvPr/>
        </p:nvSpPr>
        <p:spPr>
          <a:xfrm>
            <a:off x="7955280" y="3383280"/>
            <a:ext cx="3529584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8174736" y="3621024"/>
            <a:ext cx="658368" cy="658368"/>
          </a:xfrm>
          <a:prstGeom prst="ellipse">
            <a:avLst/>
          </a:prstGeom>
          <a:solidFill>
            <a:srgbClr val="E7F0FB"/>
          </a:solidFill>
          <a:ln/>
        </p:spPr>
      </p:sp>
      <p:pic>
        <p:nvPicPr>
          <p:cNvPr id="42" name="Image 5" descr="icons/eyeoff_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2744" y="3779032"/>
            <a:ext cx="342351" cy="342351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8942832" y="3602736"/>
            <a:ext cx="2386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Maxfiy rejim</a:t>
            </a:r>
            <a:endParaRPr lang="en-US" sz="1400" dirty="0"/>
          </a:p>
        </p:txBody>
      </p:sp>
      <p:sp>
        <p:nvSpPr>
          <p:cNvPr id="44" name="Text 36"/>
          <p:cNvSpPr/>
          <p:nvPr/>
        </p:nvSpPr>
        <p:spPr>
          <a:xfrm>
            <a:off x="8942832" y="3950208"/>
            <a:ext cx="23865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Tarix va cookie saqlanmaydi</a:t>
            </a:r>
            <a:endParaRPr lang="en-US" sz="1100" dirty="0"/>
          </a:p>
        </p:txBody>
      </p:sp>
      <p:sp>
        <p:nvSpPr>
          <p:cNvPr id="45" name="Shape 37"/>
          <p:cNvSpPr/>
          <p:nvPr/>
        </p:nvSpPr>
        <p:spPr>
          <a:xfrm>
            <a:off x="8174736" y="4407408"/>
            <a:ext cx="3090672" cy="384048"/>
          </a:xfrm>
          <a:prstGeom prst="roundRect">
            <a:avLst>
              <a:gd name="adj" fmla="val 14286"/>
            </a:avLst>
          </a:prstGeom>
          <a:solidFill>
            <a:srgbClr val="0A2540"/>
          </a:solidFill>
          <a:ln/>
        </p:spPr>
      </p:sp>
      <p:sp>
        <p:nvSpPr>
          <p:cNvPr id="46" name="Text 38"/>
          <p:cNvSpPr/>
          <p:nvPr/>
        </p:nvSpPr>
        <p:spPr>
          <a:xfrm>
            <a:off x="8174736" y="4407408"/>
            <a:ext cx="3090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Ctrl+Shift+N</a:t>
            </a:r>
            <a:endParaRPr lang="en-US" sz="1200" dirty="0"/>
          </a:p>
        </p:txBody>
      </p:sp>
      <p:sp>
        <p:nvSpPr>
          <p:cNvPr id="47" name="Text 39"/>
          <p:cNvSpPr/>
          <p:nvPr/>
        </p:nvSpPr>
        <p:spPr>
          <a:xfrm>
            <a:off x="548640" y="645566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axborot texnologiyalari asoslari  •  III bob: Internet texnologiyalari va web muhit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6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· COOKIE FAYLLAR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Cookie nima va nimaga xizmat qiladi?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292840" y="384048"/>
            <a:ext cx="457200" cy="457200"/>
          </a:xfrm>
          <a:prstGeom prst="ellipse">
            <a:avLst/>
          </a:prstGeom>
          <a:solidFill>
            <a:srgbClr val="1C6DD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65960"/>
            <a:ext cx="822960" cy="822960"/>
          </a:xfrm>
          <a:prstGeom prst="ellipse">
            <a:avLst/>
          </a:prstGeom>
          <a:solidFill>
            <a:srgbClr val="1C6DD0"/>
          </a:solidFill>
          <a:ln/>
        </p:spPr>
      </p:sp>
      <p:pic>
        <p:nvPicPr>
          <p:cNvPr id="7" name="Image 0" descr="icons/gift_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2163470"/>
            <a:ext cx="427939" cy="42793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0116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Cookie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22960" y="278892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Saytlar brauzeringizda saqlaydigan kichik ma'lumot fayllari. Ular tufayli sayt sizni "eslab qoladi":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05840" y="361188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Tanlagan tilingiz</a:t>
            </a:r>
            <a:endParaRPr lang="en-US" sz="13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Savatdagi mahsulotlaringiz</a:t>
            </a:r>
            <a:endParaRPr lang="en-US" sz="13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Saytga kirgan holatingiz (login)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22960" y="489204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Ammo cookie'lar reklama uchun kuzatuvda ham ishlatiladi. Ularni brauzer sozlamalarida ko'rish va tozalash mumkin.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72200" y="1691640"/>
            <a:ext cx="5486400" cy="4114800"/>
          </a:xfrm>
          <a:prstGeom prst="roundRect">
            <a:avLst>
              <a:gd name="adj" fmla="val 2000"/>
            </a:avLst>
          </a:prstGeom>
          <a:solidFill>
            <a:srgbClr val="0A2540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46520" y="2011680"/>
            <a:ext cx="914400" cy="914400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14" name="Image 1" descr="icons/warn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976" y="2231136"/>
            <a:ext cx="475488" cy="4754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543800" y="205740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Eslab qoling!</a:t>
            </a:r>
            <a:endParaRPr lang="en-US" sz="2100" dirty="0"/>
          </a:p>
        </p:txBody>
      </p:sp>
      <p:sp>
        <p:nvSpPr>
          <p:cNvPr id="16" name="Text 12"/>
          <p:cNvSpPr/>
          <p:nvPr/>
        </p:nvSpPr>
        <p:spPr>
          <a:xfrm>
            <a:off x="6446520" y="301752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FFD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Maxfiy (incognito) rejim sizni internetda "ko'rinmas" qilmaydi!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6446520" y="384048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faqat shu kompyuterda tarix va cookie'larni saqlamaydi. 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Provayder va saytlar faoliyatingizni baribir ko'rishi mumkin.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6446520" y="489204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9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Umumiy kompyuterda shaxsiy hisoblarga kirishda maxfiy rejimdan foydalanish — yaxshi odat.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548640" y="645566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axborot texnologiyalari asoslari  •  III bob: Internet texnologiyalari va web muhit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6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· INTERNET XIZMATLARI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Elektron pochta (e-mail)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292840" y="384048"/>
            <a:ext cx="457200" cy="457200"/>
          </a:xfrm>
          <a:prstGeom prst="ellipse">
            <a:avLst/>
          </a:prstGeom>
          <a:solidFill>
            <a:srgbClr val="1C6DD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109960" cy="1051560"/>
          </a:xfrm>
          <a:prstGeom prst="roundRect">
            <a:avLst>
              <a:gd name="adj" fmla="val 7826"/>
            </a:avLst>
          </a:prstGeom>
          <a:solidFill>
            <a:srgbClr val="E7F0FB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664208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6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ism.familiya</a:t>
            </a:r>
            <a:pPr algn="ctr" indent="0" marL="0">
              <a:buNone/>
            </a:pPr>
            <a:r>
              <a:rPr lang="en-US" sz="2200" b="1" dirty="0">
                <a:solidFill>
                  <a:srgbClr val="D64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pPr algn="ctr"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gmail.com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035040" y="1664208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C6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Foydalanuvchi nomi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belgisidan keyin — pochta xizmati domeni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6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XAT MAYDONLARI: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544068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329184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Kimga (To)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80360" y="329184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qabul qiluvchi manzili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72200" y="3200400"/>
            <a:ext cx="544068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73368" y="329184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(Subject)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503920" y="329184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xatning qisqacha mazmuni — bo'sh qoldirmang!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096512"/>
            <a:ext cx="544068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9808" y="4187952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880360" y="4187952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xatning asosiy qismi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72200" y="4096512"/>
            <a:ext cx="544068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73368" y="4187952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Ilova (Attachment)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03920" y="4187952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biriktirilgan fayllar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992624"/>
            <a:ext cx="544068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" y="5084064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Nusxa (CC)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880360" y="5084064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xatdan xabardor bo'lishi kerak bo'lganlar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72200" y="4992624"/>
            <a:ext cx="544068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73368" y="5084064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Yashirin nusxa (BCC)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503920" y="5084064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manzili boshqalarga ko'rinmaydi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C6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Rasmiy xat odobi: aniq mavzu → salomlashish → qisqa va ravon fikr → imzo (ism, lavozim) → yuborishdan oldin xatolarni tekshirish.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645566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axborot texnologiyalari asoslari  •  III bob: Internet texnologiyalari va web muhit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6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· BULUT TEXNOLOGIYASI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Bulutli xizmatlar (cloud)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292840" y="384048"/>
            <a:ext cx="457200" cy="457200"/>
          </a:xfrm>
          <a:prstGeom prst="ellipse">
            <a:avLst/>
          </a:prstGeom>
          <a:solidFill>
            <a:srgbClr val="1C6DD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120640" cy="4114800"/>
          </a:xfrm>
          <a:prstGeom prst="roundRect">
            <a:avLst>
              <a:gd name="adj" fmla="val 2000"/>
            </a:avLst>
          </a:prstGeom>
          <a:solidFill>
            <a:srgbClr val="0A2540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011680"/>
            <a:ext cx="960120" cy="960120"/>
          </a:xfrm>
          <a:prstGeom prst="ellipse">
            <a:avLst/>
          </a:prstGeom>
          <a:solidFill>
            <a:srgbClr val="1C6DD0"/>
          </a:solidFill>
          <a:ln/>
        </p:spPr>
      </p:sp>
      <p:pic>
        <p:nvPicPr>
          <p:cNvPr id="7" name="Image 0" descr="icons/cloud_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109" y="2242109"/>
            <a:ext cx="499262" cy="4992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11680" y="20116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Bulutli</a:t>
            </a:r>
            <a:endParaRPr lang="en-US" sz="2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xizmatlar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868680" y="306324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Fayllarni o'z kompyuteringizda emas, internetdagi serverlarda saqlash imkonini beruvchi xizmatlar.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868680" y="4114800"/>
            <a:ext cx="4480560" cy="0"/>
          </a:xfrm>
          <a:prstGeom prst="line">
            <a:avLst/>
          </a:prstGeom>
          <a:noFill/>
          <a:ln w="12700">
            <a:solidFill>
              <a:srgbClr val="2A4E7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425196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MASHHUR XIZMATLAR: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68680" y="455371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  ·  OneDrive  ·  Dropbox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68680" y="502920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9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Bepul boshlang'ich hajm bilan istalgan qurilmadan ishlaydi.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943600" y="173736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6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AFZALLIKLARI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943600" y="2148840"/>
            <a:ext cx="571500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44768" y="2295144"/>
            <a:ext cx="512064" cy="512064"/>
          </a:xfrm>
          <a:prstGeom prst="ellipse">
            <a:avLst/>
          </a:prstGeom>
          <a:solidFill>
            <a:srgbClr val="E7F0FB"/>
          </a:solidFill>
          <a:ln/>
        </p:spPr>
      </p:sp>
      <p:pic>
        <p:nvPicPr>
          <p:cNvPr id="17" name="Image 1" descr="icons/phone_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663" y="2418039"/>
            <a:ext cx="266273" cy="26627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812280" y="2148840"/>
            <a:ext cx="4709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Istalgan joydan 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Fayllar uyda, ishda va telefonda ochiladi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5943600" y="3081528"/>
            <a:ext cx="571500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144768" y="3227832"/>
            <a:ext cx="512064" cy="512064"/>
          </a:xfrm>
          <a:prstGeom prst="ellipse">
            <a:avLst/>
          </a:prstGeom>
          <a:solidFill>
            <a:srgbClr val="E7F0FB"/>
          </a:solidFill>
          <a:ln/>
        </p:spPr>
      </p:sp>
      <p:pic>
        <p:nvPicPr>
          <p:cNvPr id="21" name="Image 2" descr="icons/shield_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663" y="3350727"/>
            <a:ext cx="266273" cy="26627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812280" y="3081528"/>
            <a:ext cx="4709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Xavfsizlik 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Kompyuter buzilsa ham ma'lumot saqlanib qoladi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5943600" y="4014216"/>
            <a:ext cx="571500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144768" y="4160520"/>
            <a:ext cx="512064" cy="512064"/>
          </a:xfrm>
          <a:prstGeom prst="ellipse">
            <a:avLst/>
          </a:prstGeom>
          <a:solidFill>
            <a:srgbClr val="E7F0FB"/>
          </a:solidFill>
          <a:ln/>
        </p:spPr>
      </p:sp>
      <p:pic>
        <p:nvPicPr>
          <p:cNvPr id="25" name="Image 3" descr="icons/send_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663" y="4283415"/>
            <a:ext cx="266273" cy="26627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812280" y="4014216"/>
            <a:ext cx="4709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Oson ulashish 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Fayllarni havola orqali boshqalar bilan bo'lishish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5943600" y="4946904"/>
            <a:ext cx="5715000" cy="804672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144768" y="5093208"/>
            <a:ext cx="512064" cy="512064"/>
          </a:xfrm>
          <a:prstGeom prst="ellipse">
            <a:avLst/>
          </a:prstGeom>
          <a:solidFill>
            <a:srgbClr val="E7F0FB"/>
          </a:solidFill>
          <a:ln/>
        </p:spPr>
      </p:sp>
      <p:pic>
        <p:nvPicPr>
          <p:cNvPr id="29" name="Image 4" descr="icons/users_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7663" y="5216103"/>
            <a:ext cx="266273" cy="266273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812280" y="4946904"/>
            <a:ext cx="4709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Birgalikda ishlash  </a:t>
            </a:r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Bir hujjat ustida bir nechta kishi bir vaqtda ishlaydi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548640" y="645566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axborot texnologiyalari asoslari  •  III bob: Internet texnologiyalari va web muhit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6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· BEPUL BILIM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ta'lim resurslari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292840" y="384048"/>
            <a:ext cx="457200" cy="457200"/>
          </a:xfrm>
          <a:prstGeom prst="ellipse">
            <a:avLst/>
          </a:prstGeom>
          <a:solidFill>
            <a:srgbClr val="1C6DD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— bepul bilim olishning ulkan manbai. Mustaqil o'rganuvchilar uchun eng foydali platformalar: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56616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2368296"/>
            <a:ext cx="566928" cy="566928"/>
          </a:xfrm>
          <a:prstGeom prst="ellipse">
            <a:avLst/>
          </a:prstGeom>
          <a:solidFill>
            <a:srgbClr val="1C6DD0"/>
          </a:solidFill>
          <a:ln/>
        </p:spPr>
      </p:sp>
      <p:pic>
        <p:nvPicPr>
          <p:cNvPr id="8" name="Image 0" descr="icons/book_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159" y="2504359"/>
            <a:ext cx="294803" cy="2948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44752" y="2368296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6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khanacademy.org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68096" y="2971800"/>
            <a:ext cx="31272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Matematika, informatika va fanlar bo'yicha bepul video darslar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88536" y="2148840"/>
            <a:ext cx="356616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07992" y="2368296"/>
            <a:ext cx="566928" cy="566928"/>
          </a:xfrm>
          <a:prstGeom prst="ellipse">
            <a:avLst/>
          </a:prstGeom>
          <a:solidFill>
            <a:srgbClr val="1C6DD0"/>
          </a:solidFill>
          <a:ln/>
        </p:spPr>
      </p:sp>
      <p:pic>
        <p:nvPicPr>
          <p:cNvPr id="13" name="Image 1" descr="icons/book_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4055" y="2504359"/>
            <a:ext cx="294803" cy="29480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84648" y="2368296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6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w3schools.com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507992" y="2971800"/>
            <a:ext cx="31272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texnologiyalar: HTML, CSS, JavaScript — interaktiv mashqlar bilan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028432" y="2148840"/>
            <a:ext cx="356616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47888" y="2368296"/>
            <a:ext cx="566928" cy="566928"/>
          </a:xfrm>
          <a:prstGeom prst="ellipse">
            <a:avLst/>
          </a:prstGeom>
          <a:solidFill>
            <a:srgbClr val="1C6DD0"/>
          </a:solidFill>
          <a:ln/>
        </p:spPr>
      </p:sp>
      <p:pic>
        <p:nvPicPr>
          <p:cNvPr id="18" name="Image 2" descr="icons/book_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3951" y="2504359"/>
            <a:ext cx="294803" cy="29480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24544" y="2368296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6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coursera.org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8247888" y="2971800"/>
            <a:ext cx="31272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Dunyo universitetlarining onlayn kurslari va sertifikatlari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48640" y="3858768"/>
            <a:ext cx="356616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68096" y="4078224"/>
            <a:ext cx="566928" cy="566928"/>
          </a:xfrm>
          <a:prstGeom prst="ellipse">
            <a:avLst/>
          </a:prstGeom>
          <a:solidFill>
            <a:srgbClr val="1C6DD0"/>
          </a:solidFill>
          <a:ln/>
        </p:spPr>
      </p:sp>
      <p:pic>
        <p:nvPicPr>
          <p:cNvPr id="23" name="Image 3" descr="icons/book_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159" y="4214287"/>
            <a:ext cx="294803" cy="29480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44752" y="4078224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6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geeksforgeeks.org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768096" y="4681728"/>
            <a:ext cx="31272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Dasturlash va kompyuter fanlari bo'yicha maqolalar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288536" y="3858768"/>
            <a:ext cx="356616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507992" y="4078224"/>
            <a:ext cx="566928" cy="566928"/>
          </a:xfrm>
          <a:prstGeom prst="ellipse">
            <a:avLst/>
          </a:prstGeom>
          <a:solidFill>
            <a:srgbClr val="1C6DD0"/>
          </a:solidFill>
          <a:ln/>
        </p:spPr>
      </p:sp>
      <p:pic>
        <p:nvPicPr>
          <p:cNvPr id="28" name="Image 4" descr="icons/book_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4055" y="4214287"/>
            <a:ext cx="294803" cy="294803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184648" y="4078224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6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tutorialspoint.com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4507992" y="4681728"/>
            <a:ext cx="31272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Turli texnologiyalar bo'yicha tizimli darsliklar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8028432" y="3858768"/>
            <a:ext cx="356616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247888" y="4078224"/>
            <a:ext cx="566928" cy="566928"/>
          </a:xfrm>
          <a:prstGeom prst="ellipse">
            <a:avLst/>
          </a:prstGeom>
          <a:solidFill>
            <a:srgbClr val="1C6DD0"/>
          </a:solidFill>
          <a:ln/>
        </p:spPr>
      </p:sp>
      <p:pic>
        <p:nvPicPr>
          <p:cNvPr id="33" name="Image 5" descr="icons/book_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3951" y="4214287"/>
            <a:ext cx="294803" cy="294803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924544" y="4078224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6D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ziyonet.uz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8247888" y="4681728"/>
            <a:ext cx="31272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O'zbek tilidagi ta'lim resurslari kutubxonasi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548640" y="5349240"/>
            <a:ext cx="11109960" cy="594360"/>
          </a:xfrm>
          <a:prstGeom prst="roundRect">
            <a:avLst>
              <a:gd name="adj" fmla="val 13846"/>
            </a:avLst>
          </a:prstGeom>
          <a:solidFill>
            <a:srgbClr val="E7F0FB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37" name="Text 29"/>
          <p:cNvSpPr/>
          <p:nvPr/>
        </p:nvSpPr>
        <p:spPr>
          <a:xfrm>
            <a:off x="777240" y="5349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6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Eslab qoling:  </a:t>
            </a:r>
            <a:pPr indent="0" marL="0">
              <a:buNone/>
            </a:pPr>
            <a:r>
              <a:rPr lang="en-US" sz="1200" i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onlayn o'rganishda muvaffaqiyat kaliti — muntazamlik. Har kuni 30–60 daqiqa ko'p soatni "bir o'tirishda" o'zlashtirishdan samaraliroq.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548640" y="645566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axborot texnologiyalari asoslari  •  III bob: Internet texnologiyalari va web muhit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6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 · AXBOROT XAVFSIZLIGI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Internetdagi asosiy xavflar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292840" y="384048"/>
            <a:ext cx="457200" cy="457200"/>
          </a:xfrm>
          <a:prstGeom prst="ellipse">
            <a:avLst/>
          </a:prstGeom>
          <a:solidFill>
            <a:srgbClr val="1C6DD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108960" cy="4572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00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XAVF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0" y="1600200"/>
            <a:ext cx="4206240" cy="4572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8" name="Text 6"/>
          <p:cNvSpPr/>
          <p:nvPr/>
        </p:nvSpPr>
        <p:spPr>
          <a:xfrm>
            <a:off x="3794760" y="16002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QANDAY NAMOYON BO'LADI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863840" y="1600200"/>
            <a:ext cx="3794760" cy="4572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10" name="Text 8"/>
          <p:cNvSpPr/>
          <p:nvPr/>
        </p:nvSpPr>
        <p:spPr>
          <a:xfrm>
            <a:off x="8001000" y="160020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HIMOYA USULI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057400"/>
            <a:ext cx="111099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4EB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057400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749040" y="2057400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Soxta sayt/xatlar orqali parol va karta o'g'irlash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955280" y="2057400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E5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Manzilni tekshirish, havolaga shoshilmaslik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715768"/>
            <a:ext cx="11109960" cy="658368"/>
          </a:xfrm>
          <a:prstGeom prst="rect">
            <a:avLst/>
          </a:prstGeom>
          <a:solidFill>
            <a:srgbClr val="F1F6FC"/>
          </a:solidFill>
          <a:ln w="6350">
            <a:solidFill>
              <a:srgbClr val="E4EB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715768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Zararli fayllar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749040" y="271576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Yuklab olingan dastur ichida yashiringan virus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955280" y="2715768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E5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Faqat rasmiy manbadan yuklash, antivirus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374136"/>
            <a:ext cx="111099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4EB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374136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Soxta axborot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749040" y="3374136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Yolg'on yangiliklar va uydirmalar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955280" y="3374136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E5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Manbalarni taqqoslash, rasmiylarga tayanish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032504"/>
            <a:ext cx="11109960" cy="658368"/>
          </a:xfrm>
          <a:prstGeom prst="rect">
            <a:avLst/>
          </a:prstGeom>
          <a:solidFill>
            <a:srgbClr val="F1F6FC"/>
          </a:solidFill>
          <a:ln w="6350">
            <a:solidFill>
              <a:srgbClr val="E4EB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032504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Firibgarlik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749040" y="403250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"Yutuq yutdingiz!", soxta do'konlar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955280" y="4032504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E5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Bepul pishloq qopqonda bo'lishini unutmang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690872"/>
            <a:ext cx="111099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4EBF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690872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Ma'lumot sizishi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749040" y="4690872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Shaxsiy ma'lumotlarning tarqalishi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955280" y="4690872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E5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 ma'lumot e'lon qilish, kuchli parol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5349240"/>
            <a:ext cx="11109960" cy="658368"/>
          </a:xfrm>
          <a:prstGeom prst="rect">
            <a:avLst/>
          </a:prstGeom>
          <a:solidFill>
            <a:srgbClr val="F1F6FC"/>
          </a:solidFill>
          <a:ln w="6350">
            <a:solidFill>
              <a:srgbClr val="E4EBF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5349240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 qaramligi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749040" y="5349240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Vaqtni nazoratsiz sarflash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955280" y="5349240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E5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Ekran vaqtini rejalashtirish va cheklash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48640" y="645566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axborot texnologiyalari asoslari  •  III bob: Internet texnologiyalari va web muhit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6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 · AMALIY HIMOYA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O'zingizni qanday himoya qilasiz?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292840" y="384048"/>
            <a:ext cx="457200" cy="457200"/>
          </a:xfrm>
          <a:prstGeom prst="ellipse">
            <a:avLst/>
          </a:prstGeom>
          <a:solidFill>
            <a:srgbClr val="1C6DD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65960"/>
            <a:ext cx="777240" cy="777240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7" name="Image 0" descr="icons/check_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2152498"/>
            <a:ext cx="404165" cy="4041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01168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Xavfsiz saytni aniqlash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2834640"/>
            <a:ext cx="49377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Manzil https:// bilan boshlanadi, qulf belgisi ko'rinadi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Domen to'g'ri yozilgan (google.com, g00gle.com emas!)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Sayt haqida ma'lumot va aloqa manzillari bor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Katta chegirma va "faqat bugun" bosimlari yo'q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To'lovda faqat rasmiy to'lov tizimlari ishlatiladi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72200" y="1691640"/>
            <a:ext cx="548640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46520" y="1965960"/>
            <a:ext cx="777240" cy="777240"/>
          </a:xfrm>
          <a:prstGeom prst="ellipse">
            <a:avLst/>
          </a:prstGeom>
          <a:solidFill>
            <a:srgbClr val="1C6DD0"/>
          </a:solidFill>
          <a:ln/>
        </p:spPr>
      </p:sp>
      <p:pic>
        <p:nvPicPr>
          <p:cNvPr id="12" name="Image 1" descr="icons/lock_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058" y="2152498"/>
            <a:ext cx="404165" cy="40416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06640" y="20116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Shaxsiy ma'lumot himoyasi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6537960" y="2834640"/>
            <a:ext cx="49377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Passport, karta, manzilni ochiq e'lon qilmang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Ijtimoiy tarmoqlarda profil maxfiyligini sozlang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sayt uchun alohida, kuchli parol ishlating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Muhim xizmatlarda ikki bosqichli tasdiqlash yoqing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Berilgan ruxsatlarni (kamera, joylashuv) tekshiring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548640" y="645566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axborot texnologiyalari asoslari  •  III bob: Internet texnologiyalari va web muhit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822960"/>
            <a:ext cx="1097280" cy="1097280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3" name="Image 0" descr="icons/warn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587" y="1086307"/>
            <a:ext cx="570586" cy="5705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57400" y="8686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D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DIQQAT!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057400" y="12801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Internetdagi eng katta himoya vositasi — sizning hushyorligingiz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2057400" y="214884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Texnik vositalar (antivirus, shifrlash) faqat yordamchi. Har qanday shubhali holatda "to'xta, o'yla, tekshir" qoidasiga amal qiling.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777240" y="3063240"/>
            <a:ext cx="347472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3A6FA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3273552"/>
            <a:ext cx="548640" cy="548640"/>
          </a:xfrm>
          <a:prstGeom prst="ellipse">
            <a:avLst/>
          </a:prstGeom>
          <a:solidFill>
            <a:srgbClr val="D6454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691640" y="32461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To'xta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691640" y="363931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havolani bosishdan oldin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480560" y="3063240"/>
            <a:ext cx="347472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3A6FA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09160" y="3273552"/>
            <a:ext cx="548640" cy="548640"/>
          </a:xfrm>
          <a:prstGeom prst="ellipse">
            <a:avLst/>
          </a:prstGeom>
          <a:solidFill>
            <a:srgbClr val="D6454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5394960" y="32461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O'yla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394960" y="363931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haqiqiy va xavfsizmi?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183880" y="3063240"/>
            <a:ext cx="347472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3A6FA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12480" y="3273552"/>
            <a:ext cx="548640" cy="548640"/>
          </a:xfrm>
          <a:prstGeom prst="ellipse">
            <a:avLst/>
          </a:prstGeom>
          <a:solidFill>
            <a:srgbClr val="D6454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9098280" y="32461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Tekshir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9098280" y="363931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manzil va manbani ko'r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77240" y="4434840"/>
            <a:ext cx="10652760" cy="1600200"/>
          </a:xfrm>
          <a:prstGeom prst="roundRect">
            <a:avLst>
              <a:gd name="adj" fmla="val 571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3A6FA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051560" y="4709160"/>
            <a:ext cx="777240" cy="777240"/>
          </a:xfrm>
          <a:prstGeom prst="ellipse">
            <a:avLst/>
          </a:prstGeom>
          <a:solidFill>
            <a:srgbClr val="1C6DD0"/>
          </a:solidFill>
          <a:ln/>
        </p:spPr>
      </p:sp>
      <p:pic>
        <p:nvPicPr>
          <p:cNvPr id="21" name="Image 1" descr="icons/users_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098" y="4895698"/>
            <a:ext cx="404165" cy="404165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2057400" y="47091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Netiket — tarmoq etiketi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2057400" y="516636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FE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Boshqalarni hurmat qiling  ·  haqorat va tahqirdan saqlaning  ·  tekshirilmagan ma'lumotni tarqatmang  ·  mualliflik huquqini hurmat qiling  ·  savodli va tushunarli yozing.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7772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 bob  •  Internet texnologiyalari va web muhit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C6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YAKUNI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tushunchalarni takrorlaymiz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292840" y="384048"/>
            <a:ext cx="457200" cy="457200"/>
          </a:xfrm>
          <a:prstGeom prst="ellipse">
            <a:avLst/>
          </a:prstGeom>
          <a:solidFill>
            <a:srgbClr val="1C6DD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529584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1883664"/>
            <a:ext cx="640080" cy="640080"/>
          </a:xfrm>
          <a:prstGeom prst="ellipse">
            <a:avLst/>
          </a:prstGeom>
          <a:solidFill>
            <a:srgbClr val="1C6DD0"/>
          </a:solidFill>
          <a:ln/>
        </p:spPr>
      </p:sp>
      <p:pic>
        <p:nvPicPr>
          <p:cNvPr id="7" name="Image 0" descr="icons/globe_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715" y="2037283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865376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68096" y="2487168"/>
            <a:ext cx="3090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tarmoqlar tarmog'i; WWW — uning eng ommabop xizmati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51960" y="1645920"/>
            <a:ext cx="3529584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71416" y="1883664"/>
            <a:ext cx="640080" cy="640080"/>
          </a:xfrm>
          <a:prstGeom prst="ellipse">
            <a:avLst/>
          </a:prstGeom>
          <a:solidFill>
            <a:srgbClr val="1C6DD0"/>
          </a:solidFill>
          <a:ln/>
        </p:spPr>
      </p:sp>
      <p:pic>
        <p:nvPicPr>
          <p:cNvPr id="12" name="Image 1" descr="icons/server_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5035" y="2037283"/>
            <a:ext cx="332842" cy="33284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12080" y="1865376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Tarmoq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471416" y="2487168"/>
            <a:ext cx="3090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Paketli uzatish, IP manzil, domen nomi va DNS orqali ishlaydi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955280" y="1645920"/>
            <a:ext cx="3529584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174736" y="1883664"/>
            <a:ext cx="640080" cy="640080"/>
          </a:xfrm>
          <a:prstGeom prst="ellipse">
            <a:avLst/>
          </a:prstGeom>
          <a:solidFill>
            <a:srgbClr val="1C6DD0"/>
          </a:solidFill>
          <a:ln/>
        </p:spPr>
      </p:sp>
      <p:pic>
        <p:nvPicPr>
          <p:cNvPr id="17" name="Image 2" descr="icons/code_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8355" y="2037283"/>
            <a:ext cx="332842" cy="33284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15400" y="1865376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texnologiyalar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174736" y="2487168"/>
            <a:ext cx="3090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(tuzilish), CSS (ko'rinish), JavaScript (harakat)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3355848"/>
            <a:ext cx="3529584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68096" y="3593592"/>
            <a:ext cx="640080" cy="640080"/>
          </a:xfrm>
          <a:prstGeom prst="ellipse">
            <a:avLst/>
          </a:prstGeom>
          <a:solidFill>
            <a:srgbClr val="1C6DD0"/>
          </a:solidFill>
          <a:ln/>
        </p:spPr>
      </p:sp>
      <p:pic>
        <p:nvPicPr>
          <p:cNvPr id="22" name="Image 3" descr="icons/monitor_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715" y="3747211"/>
            <a:ext cx="332842" cy="33284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08760" y="3575304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Brauzer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768096" y="4197096"/>
            <a:ext cx="3090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Kodlarni o'qib, sahifani ko'rsatadi; foydali funksiyalarga ega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251960" y="3355848"/>
            <a:ext cx="3529584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471416" y="3593592"/>
            <a:ext cx="640080" cy="640080"/>
          </a:xfrm>
          <a:prstGeom prst="ellipse">
            <a:avLst/>
          </a:prstGeom>
          <a:solidFill>
            <a:srgbClr val="1C6DD0"/>
          </a:solidFill>
          <a:ln/>
        </p:spPr>
      </p:sp>
      <p:pic>
        <p:nvPicPr>
          <p:cNvPr id="27" name="Image 4" descr="icons/cloud_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5035" y="3747211"/>
            <a:ext cx="332842" cy="33284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212080" y="3575304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Xizmatlar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4471416" y="4197096"/>
            <a:ext cx="3090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E-pochta, bulutli saqlash va ta'lim resurslari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7955280" y="3355848"/>
            <a:ext cx="3529584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174736" y="3593592"/>
            <a:ext cx="640080" cy="640080"/>
          </a:xfrm>
          <a:prstGeom prst="ellipse">
            <a:avLst/>
          </a:prstGeom>
          <a:solidFill>
            <a:srgbClr val="1C6DD0"/>
          </a:solidFill>
          <a:ln/>
        </p:spPr>
      </p:sp>
      <p:pic>
        <p:nvPicPr>
          <p:cNvPr id="32" name="Image 5" descr="icons/shield_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8355" y="3747211"/>
            <a:ext cx="332842" cy="33284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915400" y="3575304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Xavfsizlik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8174736" y="4197096"/>
            <a:ext cx="3090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Hushyorlik + kuchli parol + ikki bosqichli tasdiqlash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548640" y="5394960"/>
            <a:ext cx="11109960" cy="640080"/>
          </a:xfrm>
          <a:prstGeom prst="roundRect">
            <a:avLst>
              <a:gd name="adj" fmla="val 12857"/>
            </a:avLst>
          </a:prstGeom>
          <a:solidFill>
            <a:srgbClr val="0A2540"/>
          </a:solidFill>
          <a:ln w="12700">
            <a:solidFill>
              <a:srgbClr val="D8E4F0"/>
            </a:solidFill>
            <a:prstDash val="solid"/>
          </a:ln>
          <a:effectLst>
            <a:outerShdw sx="100000" sy="100000" kx="0" ky="0" algn="bl" rotWithShape="0" blurRad="76200" dist="25400" dir="5400000">
              <a:srgbClr val="9FB4CC">
                <a:alpha val="28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749808" y="5513832"/>
            <a:ext cx="402336" cy="402336"/>
          </a:xfrm>
          <a:prstGeom prst="ellipse">
            <a:avLst/>
          </a:prstGeom>
          <a:solidFill>
            <a:srgbClr val="1C6DD0"/>
          </a:solidFill>
          <a:ln/>
        </p:spPr>
      </p:sp>
      <p:pic>
        <p:nvPicPr>
          <p:cNvPr id="37" name="Image 6" descr="icons/check_b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369" y="5610393"/>
            <a:ext cx="209215" cy="209215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325880" y="53949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 siz internetdan xavfsiz, samarali va ongli foydalanish asoslarini bilasiz. Mustaqil amaliyot bilan mustahkamlang!</a:t>
            </a:r>
            <a:endParaRPr lang="en-US" sz="1300" dirty="0"/>
          </a:p>
        </p:txBody>
      </p:sp>
      <p:sp>
        <p:nvSpPr>
          <p:cNvPr id="39" name="Text 30"/>
          <p:cNvSpPr/>
          <p:nvPr/>
        </p:nvSpPr>
        <p:spPr>
          <a:xfrm>
            <a:off x="548640" y="6455664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axborot texnologiyalari asoslari  •  III bob: Internet texnologiyalari va web muhit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2026-07-21T10:08:30Z</dcterms:created>
  <dcterms:modified xsi:type="dcterms:W3CDTF">2026-07-21T10:08:30Z</dcterms:modified>
</cp:coreProperties>
</file>