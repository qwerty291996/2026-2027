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FA3B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2FA3B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AXBOROT-KOMMUNIKATSIYA TEXNOLOGIYALARI VA HARBIY ALOQA INSTITUTI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18608" y="123444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6" name="Text 4"/>
          <p:cNvSpPr/>
          <p:nvPr/>
        </p:nvSpPr>
        <p:spPr>
          <a:xfrm>
            <a:off x="5318608" y="12344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TEXNOLOGIYALARI ASOSLARI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Boshlang‘ich o‘rganuvchilar uchun o‘quv taqdimoti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06928" y="4206240"/>
            <a:ext cx="713232" cy="71323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9500" y="4398813"/>
            <a:ext cx="328087" cy="32808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23080" y="4206240"/>
            <a:ext cx="713232" cy="71323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652" y="4398813"/>
            <a:ext cx="328087" cy="32808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39232" y="4206240"/>
            <a:ext cx="713232" cy="71323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804" y="4398813"/>
            <a:ext cx="328087" cy="32808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955384" y="4206240"/>
            <a:ext cx="713232" cy="71323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956" y="4398813"/>
            <a:ext cx="328087" cy="32808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1536" y="4206240"/>
            <a:ext cx="713232" cy="71323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108" y="4398813"/>
            <a:ext cx="328087" cy="3280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" y="56235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«Kompyuter axborot texnologiyalari asoslari» o‘quv qo‘llanmasi asosida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 · MUNDARIJA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Modulda nimalarni o‘rganamiz?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575397" y="1618488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530" y="1766621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40280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478024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texnologiyalarining mohiyati va vazifalari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79394" y="1417320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406151" y="1618488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284" y="1766621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9394" y="2240280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89122" y="2478024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tizimining tuzilishi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0148" y="1417320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236905" y="1618488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37" y="1766621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0148" y="2240280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19876" y="2478024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qurilmalar va ishlash prinsipi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40901" y="1417320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67658" y="1618488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5791" y="1766621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40901" y="2240280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50629" y="2478024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tizimlar haqida tushuncha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575304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1575397" y="3776472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530" y="392460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" y="4398264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58368" y="4636008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 va ma’lumotlarni tashkil etish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379394" y="3575304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30" name="Shape 23"/>
          <p:cNvSpPr/>
          <p:nvPr/>
        </p:nvSpPr>
        <p:spPr>
          <a:xfrm>
            <a:off x="4406151" y="3776472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4284" y="392460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79394" y="4398264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489122" y="4636008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dasturlar va ularning turlari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210148" y="3575304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35" name="Shape 27"/>
          <p:cNvSpPr/>
          <p:nvPr/>
        </p:nvSpPr>
        <p:spPr>
          <a:xfrm>
            <a:off x="7236905" y="3776472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5037" y="3924605"/>
            <a:ext cx="252374" cy="2523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10148" y="4398264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19876" y="4636008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va kompyuter tarmoqlari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9040901" y="3575304"/>
            <a:ext cx="2602154" cy="1901952"/>
          </a:xfrm>
          <a:prstGeom prst="roundRect">
            <a:avLst>
              <a:gd name="adj" fmla="val 2885"/>
            </a:avLst>
          </a:prstGeom>
          <a:solidFill>
            <a:srgbClr val="E9F4F6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67658" y="3776472"/>
            <a:ext cx="548640" cy="54864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5791" y="3924605"/>
            <a:ext cx="252374" cy="25237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40901" y="4398264"/>
            <a:ext cx="26021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150629" y="4636008"/>
            <a:ext cx="238269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xavfsizligi qoidalari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9F4F6"/>
          </a:solidFill>
          <a:ln/>
        </p:spPr>
      </p:sp>
      <p:sp>
        <p:nvSpPr>
          <p:cNvPr id="45" name="Shape 35"/>
          <p:cNvSpPr/>
          <p:nvPr/>
        </p:nvSpPr>
        <p:spPr>
          <a:xfrm>
            <a:off x="804672" y="5760720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054" y="5889102"/>
            <a:ext cx="218724" cy="21872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463040" y="5779008"/>
            <a:ext cx="99056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· Amaliy mashg‘ulotlar.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yakunida 4 ta amaliy mashg‘ulot: bilimlar kompyuterda mustahkamlanadi.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nima?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508760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66" y="16371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389888"/>
            <a:ext cx="9942271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bizni o‘rab turgan olam, undagi voqea va hodisalar, predmetlar hamda jarayonlar haqidagi ma’lumotlardir. Biz har kuni axborot bilan ishlaymiz: o‘qiymiz, suhbatlashamiz, xabar yozamiz.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395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qanday shakllarda bo‘ladi?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88440" y="2788920"/>
            <a:ext cx="768096" cy="7680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826" y="2996306"/>
            <a:ext cx="353324" cy="3533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5248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700120" y="2788920"/>
            <a:ext cx="768096" cy="7680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506" y="2996306"/>
            <a:ext cx="353324" cy="353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06928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11800" y="2788920"/>
            <a:ext cx="768096" cy="7680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186" y="2996306"/>
            <a:ext cx="353324" cy="353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18608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Tovush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723480" y="2788920"/>
            <a:ext cx="768096" cy="7680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0866" y="2996306"/>
            <a:ext cx="353324" cy="3533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30288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9735160" y="2788920"/>
            <a:ext cx="768096" cy="7680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546" y="2996306"/>
            <a:ext cx="353324" cy="3533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41968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48640" y="4224528"/>
            <a:ext cx="5410048" cy="1481328"/>
          </a:xfrm>
          <a:prstGeom prst="roundRect">
            <a:avLst>
              <a:gd name="adj" fmla="val 3704"/>
            </a:avLst>
          </a:prstGeom>
          <a:solidFill>
            <a:srgbClr val="E9F4F6"/>
          </a:solidFill>
          <a:ln/>
        </p:spPr>
      </p:sp>
      <p:sp>
        <p:nvSpPr>
          <p:cNvPr id="25" name="Text 17"/>
          <p:cNvSpPr/>
          <p:nvPr/>
        </p:nvSpPr>
        <p:spPr>
          <a:xfrm>
            <a:off x="777240" y="4434840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0  1</a:t>
            </a:r>
            <a:endParaRPr lang="en-US" sz="4000" dirty="0"/>
          </a:p>
        </p:txBody>
      </p:sp>
      <p:sp>
        <p:nvSpPr>
          <p:cNvPr id="26" name="Text 18"/>
          <p:cNvSpPr/>
          <p:nvPr/>
        </p:nvSpPr>
        <p:spPr>
          <a:xfrm>
            <a:off x="2148840" y="4370832"/>
            <a:ext cx="35812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Ikkilik kod.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barcha turdagi axborotni raqamli shaklda — 0 va 1 raqamlaridan iborat kodda saqlaydi va qayta ishlaydi.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233008" y="4224528"/>
            <a:ext cx="5410048" cy="1481328"/>
          </a:xfrm>
          <a:prstGeom prst="roundRect">
            <a:avLst>
              <a:gd name="adj" fmla="val 3704"/>
            </a:avLst>
          </a:prstGeom>
          <a:solidFill>
            <a:srgbClr val="FDF3E1"/>
          </a:solidFill>
          <a:ln/>
        </p:spPr>
      </p:sp>
      <p:sp>
        <p:nvSpPr>
          <p:cNvPr id="28" name="Shape 20"/>
          <p:cNvSpPr/>
          <p:nvPr/>
        </p:nvSpPr>
        <p:spPr>
          <a:xfrm>
            <a:off x="6489040" y="4727448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421" y="4855830"/>
            <a:ext cx="218724" cy="2187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47408" y="4370832"/>
            <a:ext cx="39470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Qimmatli resurs.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jamiyatda axborot — xuddi neft, gaz yoki oltin kabi boylik hisoblanadi.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texnologiyalari va ularning vazifalari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89888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texnologiyalari (AT / IT)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axborotni yig‘ish, saqlash, qayta ishlash, uzatish va foydalanuvchiga yetkazib berish uchun qo‘llaniladigan usullar, vositalar va jarayonlar majmui.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85520" y="2514600"/>
            <a:ext cx="822960" cy="82296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19" y="273679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8592" y="341985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Yig‘ish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6880" y="369417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so‘rovnoma, sensor va hujjatlardan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93696" y="2798064"/>
            <a:ext cx="256032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11" name="Shape 8"/>
          <p:cNvSpPr/>
          <p:nvPr/>
        </p:nvSpPr>
        <p:spPr>
          <a:xfrm>
            <a:off x="3434944" y="2514600"/>
            <a:ext cx="822960" cy="82296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143" y="273679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8016" y="341985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86304" y="369417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 qurilmalarida ishonchli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43120" y="2798064"/>
            <a:ext cx="256032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16" name="Shape 12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7" y="273679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7440" y="341985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ishlash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35728" y="369417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hisob-kitob va tahlil qilish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092544" y="2798064"/>
            <a:ext cx="256032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21" name="Shape 16"/>
          <p:cNvSpPr/>
          <p:nvPr/>
        </p:nvSpPr>
        <p:spPr>
          <a:xfrm>
            <a:off x="7933792" y="2514600"/>
            <a:ext cx="822960" cy="82296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991" y="2736799"/>
            <a:ext cx="378562" cy="3785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6864" y="341985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Uzatish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385152" y="369417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masofaga, boshqa foydalanuvchiga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41968" y="2798064"/>
            <a:ext cx="256032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26" name="Shape 20"/>
          <p:cNvSpPr/>
          <p:nvPr/>
        </p:nvSpPr>
        <p:spPr>
          <a:xfrm>
            <a:off x="10183216" y="2514600"/>
            <a:ext cx="822960" cy="82296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415" y="2736799"/>
            <a:ext cx="378562" cy="3785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16288" y="341985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qilish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634576" y="369417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ruxsatsiz kirishdan saqlash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4526280"/>
            <a:ext cx="11094415" cy="1143000"/>
          </a:xfrm>
          <a:prstGeom prst="roundRect">
            <a:avLst>
              <a:gd name="adj" fmla="val 4800"/>
            </a:avLst>
          </a:prstGeom>
          <a:solidFill>
            <a:srgbClr val="FDF3E1"/>
          </a:solidFill>
          <a:ln/>
        </p:spPr>
      </p:sp>
      <p:sp>
        <p:nvSpPr>
          <p:cNvPr id="31" name="Shape 24"/>
          <p:cNvSpPr/>
          <p:nvPr/>
        </p:nvSpPr>
        <p:spPr>
          <a:xfrm>
            <a:off x="804672" y="4860036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54" y="4988418"/>
            <a:ext cx="218724" cy="2187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63040" y="4636008"/>
            <a:ext cx="990569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texnologiyalari — bu faqat kompyuter emas. Bu butun bir tizim: qurilmalar (apparat ta’minot) + dasturlar (dasturiy ta’minot) + tarmoqlar + bu vositalardan foydalana oladigan insonlar.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texnologiyalari hayotimizning barcha sohalarida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45738" cy="1572768"/>
          </a:xfrm>
          <a:prstGeom prst="roundRect">
            <a:avLst>
              <a:gd name="adj" fmla="val 3488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170115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591056"/>
            <a:ext cx="26313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Ta’lim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157984"/>
            <a:ext cx="31068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darsliklar, masofaviy ta’lim, onlayn kurslar, elektron jurnal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371600"/>
            <a:ext cx="3545738" cy="1572768"/>
          </a:xfrm>
          <a:prstGeom prst="roundRect">
            <a:avLst>
              <a:gd name="adj" fmla="val 3488"/>
            </a:avLst>
          </a:prstGeom>
          <a:solidFill>
            <a:srgbClr val="E9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24146" y="1572768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528" y="170115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7650" y="1591056"/>
            <a:ext cx="26313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Tibbiyot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2434" y="2157984"/>
            <a:ext cx="31068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kasallik tarixi, tomografiya, telemeditsina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7317" y="1371600"/>
            <a:ext cx="3545738" cy="1572768"/>
          </a:xfrm>
          <a:prstGeom prst="roundRect">
            <a:avLst>
              <a:gd name="adj" fmla="val 3488"/>
            </a:avLst>
          </a:prstGeom>
          <a:solidFill>
            <a:srgbClr val="E9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8485" y="1572768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867" y="170115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1989" y="1591056"/>
            <a:ext cx="26313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va moliya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16773" y="2157984"/>
            <a:ext cx="31068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to‘lovlar, mobil banking, plastik kartalar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72968"/>
            <a:ext cx="3545738" cy="1572768"/>
          </a:xfrm>
          <a:prstGeom prst="roundRect">
            <a:avLst>
              <a:gd name="adj" fmla="val 3488"/>
            </a:avLst>
          </a:prstGeom>
          <a:solidFill>
            <a:srgbClr val="E9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374136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350251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3392424"/>
            <a:ext cx="26313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boshqaruvi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8096" y="3959352"/>
            <a:ext cx="31068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hukumat (my.gov.uz), onlayn davlat xizmatlari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2978" y="3172968"/>
            <a:ext cx="3545738" cy="1572768"/>
          </a:xfrm>
          <a:prstGeom prst="roundRect">
            <a:avLst>
              <a:gd name="adj" fmla="val 3488"/>
            </a:avLst>
          </a:prstGeom>
          <a:solidFill>
            <a:srgbClr val="E9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4146" y="3374136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528" y="350251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7650" y="3392424"/>
            <a:ext cx="26313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Harbiy soha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2434" y="3959352"/>
            <a:ext cx="31068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 tizimlari, avtomatlashtirilgan boshqaruv, ma’lumotlar himoyasi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7317" y="3172968"/>
            <a:ext cx="3545738" cy="1572768"/>
          </a:xfrm>
          <a:prstGeom prst="roundRect">
            <a:avLst>
              <a:gd name="adj" fmla="val 3488"/>
            </a:avLst>
          </a:prstGeom>
          <a:solidFill>
            <a:srgbClr val="E9F4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298485" y="3374136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867" y="350251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01989" y="3392424"/>
            <a:ext cx="26313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chiqarish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16773" y="3959352"/>
            <a:ext cx="31068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Avtomatlashtirilgan liniyalar, robotlar, loyihalash (CAD)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FDF3E1"/>
          </a:solidFill>
          <a:ln/>
        </p:spPr>
      </p:sp>
      <p:sp>
        <p:nvSpPr>
          <p:cNvPr id="35" name="Shape 27"/>
          <p:cNvSpPr/>
          <p:nvPr/>
        </p:nvSpPr>
        <p:spPr>
          <a:xfrm>
            <a:off x="804672" y="5408676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54" y="5537058"/>
            <a:ext cx="218724" cy="21872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230368"/>
            <a:ext cx="9905695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«Raqamli O‘zbekiston — 2030» strategiyasi.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xizmatlari elektron shaklga o‘tkazilmoqda, IT-parklar tashkil etilmoqda, aholining raqamli savodxonligi oshirilmoqda.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— kompyuterning «miyasi»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126480" cy="2240280"/>
          </a:xfrm>
          <a:prstGeom prst="roundRect">
            <a:avLst>
              <a:gd name="adj" fmla="val 2449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536192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1664574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(CPU — Central Processing Unit)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hisob-kitoblarni bajaradi va qurilmalar ishini boshqaradi;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qurilmasi — dastur buyruqlarini o‘qiydi va boshqaradi;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Arifmetik-mantiqiy qurilma (ALU) — qo‘shish, ayirish, taqqoslash;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 yadroli — bir vaqtda bir nechta vazifani parallel bajaradi.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1325880"/>
            <a:ext cx="4693615" cy="2240280"/>
          </a:xfrm>
          <a:prstGeom prst="roundRect">
            <a:avLst>
              <a:gd name="adj" fmla="val 2449"/>
            </a:avLst>
          </a:prstGeom>
          <a:solidFill>
            <a:srgbClr val="E9F4F6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536192"/>
            <a:ext cx="4693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GGs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269480" y="2240280"/>
            <a:ext cx="4053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chastotali protsessor bir soniyada milliardlab oddiy amalni bajara oladi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223760" y="2999232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Tezlik birligi — gigagerts (GGs)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qanday ishlaydi? — 4 bosqichli jarayon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28320" y="4261104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0E7C8C"/>
          </a:solidFill>
          <a:ln/>
        </p:spPr>
      </p:sp>
      <p:sp>
        <p:nvSpPr>
          <p:cNvPr id="15" name="Text 12"/>
          <p:cNvSpPr/>
          <p:nvPr/>
        </p:nvSpPr>
        <p:spPr>
          <a:xfrm>
            <a:off x="728320" y="4261104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KIRITISH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 kiritiladi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169768" y="4562856"/>
            <a:ext cx="292608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17" name="Shape 14"/>
          <p:cNvSpPr/>
          <p:nvPr/>
        </p:nvSpPr>
        <p:spPr>
          <a:xfrm>
            <a:off x="3508096" y="4261104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0E7C8C"/>
          </a:solidFill>
          <a:ln/>
        </p:spPr>
      </p:sp>
      <p:sp>
        <p:nvSpPr>
          <p:cNvPr id="18" name="Text 15"/>
          <p:cNvSpPr/>
          <p:nvPr/>
        </p:nvSpPr>
        <p:spPr>
          <a:xfrm>
            <a:off x="3508096" y="4261104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ISHLASH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hisoblaydi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949544" y="4562856"/>
            <a:ext cx="292608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4261104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0E7C8C"/>
          </a:solidFill>
          <a:ln/>
        </p:spPr>
      </p:sp>
      <p:sp>
        <p:nvSpPr>
          <p:cNvPr id="21" name="Text 18"/>
          <p:cNvSpPr/>
          <p:nvPr/>
        </p:nvSpPr>
        <p:spPr>
          <a:xfrm>
            <a:off x="6287872" y="4261104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xotiraga yoziladi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729320" y="4562856"/>
            <a:ext cx="292608" cy="237744"/>
          </a:xfrm>
          <a:prstGeom prst="rightArrow">
            <a:avLst/>
          </a:prstGeom>
          <a:solidFill>
            <a:srgbClr val="2FA3B3"/>
          </a:solidFill>
          <a:ln/>
        </p:spPr>
      </p:sp>
      <p:sp>
        <p:nvSpPr>
          <p:cNvPr id="23" name="Shape 20"/>
          <p:cNvSpPr/>
          <p:nvPr/>
        </p:nvSpPr>
        <p:spPr>
          <a:xfrm>
            <a:off x="9067648" y="4261104"/>
            <a:ext cx="2395728" cy="841248"/>
          </a:xfrm>
          <a:prstGeom prst="roundRect">
            <a:avLst>
              <a:gd name="adj" fmla="val 6522"/>
            </a:avLst>
          </a:prstGeom>
          <a:solidFill>
            <a:srgbClr val="0E7C8C"/>
          </a:solidFill>
          <a:ln/>
        </p:spPr>
      </p:sp>
      <p:sp>
        <p:nvSpPr>
          <p:cNvPr id="24" name="Text 21"/>
          <p:cNvSpPr/>
          <p:nvPr/>
        </p:nvSpPr>
        <p:spPr>
          <a:xfrm>
            <a:off x="9067648" y="4261104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ko‘rsatiladi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48640" y="52852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jarayon soniyada milliardlab marta takrorlanadi.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 turlari: operativ va doimiy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10048" cy="3520440"/>
          </a:xfrm>
          <a:prstGeom prst="roundRect">
            <a:avLst>
              <a:gd name="adj" fmla="val 1558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536192"/>
            <a:ext cx="502920" cy="50292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172" y="167198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9105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 xotira (RAM)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58488" y="157276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9" name="Text 6"/>
          <p:cNvSpPr/>
          <p:nvPr/>
        </p:nvSpPr>
        <p:spPr>
          <a:xfrm>
            <a:off x="4358488" y="1572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«Ish stoli»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22402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Vazifasi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40280" y="2240280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Ishlayotgan dastur va ma’lumotlarni vaqtincha saqlaydi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" y="284378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O‘chganda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40280" y="2843784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Ma’lumotlar o‘chib ketadi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" y="34472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Tezligi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40280" y="3447288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Juda tez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4672" y="4050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Odatiy hajmi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40280" y="4050792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32 GB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33008" y="1325880"/>
            <a:ext cx="5410048" cy="3520440"/>
          </a:xfrm>
          <a:prstGeom prst="roundRect">
            <a:avLst>
              <a:gd name="adj" fmla="val 1558"/>
            </a:avLst>
          </a:prstGeom>
          <a:solidFill>
            <a:srgbClr val="E9F4F6"/>
          </a:solidFill>
          <a:ln/>
        </p:spPr>
      </p:sp>
      <p:sp>
        <p:nvSpPr>
          <p:cNvPr id="19" name="Shape 16"/>
          <p:cNvSpPr/>
          <p:nvPr/>
        </p:nvSpPr>
        <p:spPr>
          <a:xfrm>
            <a:off x="6470752" y="1536192"/>
            <a:ext cx="502920" cy="50292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671980"/>
            <a:ext cx="231343" cy="23134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01688" y="159105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Doimiy xotira (HDD / SSD)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10225735" y="157276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23" name="Text 19"/>
          <p:cNvSpPr/>
          <p:nvPr/>
        </p:nvSpPr>
        <p:spPr>
          <a:xfrm>
            <a:off x="10225735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«Shkaf»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89040" y="22402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Vazifasi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924648" y="2240280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Fayllar, dasturlar va operatsion tizimni doimiy saqlaydi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89040" y="284378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O‘chganda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924648" y="2843784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Ma’lumotlar saqlanib qoladi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489040" y="34472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Tezligi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7924648" y="3447288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— tez, HDD — sekinroq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489040" y="4050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Odatiy hajmi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924648" y="4050792"/>
            <a:ext cx="3444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– 2 TB va undan ko‘p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E9F4F6"/>
          </a:solidFill>
          <a:ln/>
        </p:spPr>
      </p:sp>
      <p:sp>
        <p:nvSpPr>
          <p:cNvPr id="33" name="Shape 29"/>
          <p:cNvSpPr/>
          <p:nvPr/>
        </p:nvSpPr>
        <p:spPr>
          <a:xfrm>
            <a:off x="804672" y="5362956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4" y="5491338"/>
            <a:ext cx="218724" cy="21872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463040" y="5184648"/>
            <a:ext cx="9905695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tanlov — SSD.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elektron mikrosxemalarga asoslangan: operatsion tizim va dasturlar yuklanishini bir necha barobar tezlashtiradi. HDD magnit disklarga asoslangan — arzonroq, lekin sekinroq.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hajmi qanday o‘lchanadi?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keyingi birlik oldingisidan 1024 marta katta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9156" y="4617720"/>
            <a:ext cx="1700784" cy="1005840"/>
          </a:xfrm>
          <a:prstGeom prst="roundRect">
            <a:avLst>
              <a:gd name="adj" fmla="val 4545"/>
            </a:avLst>
          </a:prstGeom>
          <a:solidFill>
            <a:srgbClr val="B9DEE3"/>
          </a:solidFill>
          <a:ln/>
        </p:spPr>
      </p:sp>
      <p:sp>
        <p:nvSpPr>
          <p:cNvPr id="6" name="Text 4"/>
          <p:cNvSpPr/>
          <p:nvPr/>
        </p:nvSpPr>
        <p:spPr>
          <a:xfrm>
            <a:off x="559156" y="470916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yoki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3436" y="569671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kichik birlik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33676" y="4069080"/>
            <a:ext cx="1700784" cy="1554480"/>
          </a:xfrm>
          <a:prstGeom prst="roundRect">
            <a:avLst>
              <a:gd name="adj" fmla="val 2941"/>
            </a:avLst>
          </a:prstGeom>
          <a:solidFill>
            <a:srgbClr val="8FC9D2"/>
          </a:solidFill>
          <a:ln/>
        </p:spPr>
      </p:sp>
      <p:sp>
        <p:nvSpPr>
          <p:cNvPr id="9" name="Text 7"/>
          <p:cNvSpPr/>
          <p:nvPr/>
        </p:nvSpPr>
        <p:spPr>
          <a:xfrm>
            <a:off x="2433676" y="416052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Bayt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 bit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87956" y="569671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harf yoki belgi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08196" y="3520440"/>
            <a:ext cx="1700784" cy="2103120"/>
          </a:xfrm>
          <a:prstGeom prst="roundRect">
            <a:avLst>
              <a:gd name="adj" fmla="val 2688"/>
            </a:avLst>
          </a:prstGeom>
          <a:solidFill>
            <a:srgbClr val="63B1BE"/>
          </a:solidFill>
          <a:ln/>
        </p:spPr>
      </p:sp>
      <p:sp>
        <p:nvSpPr>
          <p:cNvPr id="12" name="Text 10"/>
          <p:cNvSpPr/>
          <p:nvPr/>
        </p:nvSpPr>
        <p:spPr>
          <a:xfrm>
            <a:off x="4308196" y="361188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1024 bayt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62476" y="569671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yarim sahifa matn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2716" y="2971800"/>
            <a:ext cx="1700784" cy="2651760"/>
          </a:xfrm>
          <a:prstGeom prst="roundRect">
            <a:avLst>
              <a:gd name="adj" fmla="val 2688"/>
            </a:avLst>
          </a:prstGeom>
          <a:solidFill>
            <a:srgbClr val="3D97A7"/>
          </a:solidFill>
          <a:ln/>
        </p:spPr>
      </p:sp>
      <p:sp>
        <p:nvSpPr>
          <p:cNvPr id="15" name="Text 13"/>
          <p:cNvSpPr/>
          <p:nvPr/>
        </p:nvSpPr>
        <p:spPr>
          <a:xfrm>
            <a:off x="6182716" y="306324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1024 KB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36996" y="569671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yoki qo‘shiq daqiqasi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57236" y="2423160"/>
            <a:ext cx="1700784" cy="3200400"/>
          </a:xfrm>
          <a:prstGeom prst="roundRect">
            <a:avLst>
              <a:gd name="adj" fmla="val 2688"/>
            </a:avLst>
          </a:prstGeom>
          <a:solidFill>
            <a:srgbClr val="1F7E8F"/>
          </a:solidFill>
          <a:ln/>
        </p:spPr>
      </p:sp>
      <p:sp>
        <p:nvSpPr>
          <p:cNvPr id="18" name="Text 16"/>
          <p:cNvSpPr/>
          <p:nvPr/>
        </p:nvSpPr>
        <p:spPr>
          <a:xfrm>
            <a:off x="8057236" y="251460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1024 MB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11516" y="569671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soatlik video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931756" y="1874520"/>
            <a:ext cx="1700784" cy="3749040"/>
          </a:xfrm>
          <a:prstGeom prst="roundRect">
            <a:avLst>
              <a:gd name="adj" fmla="val 2688"/>
            </a:avLst>
          </a:prstGeom>
          <a:solidFill>
            <a:srgbClr val="0E6472"/>
          </a:solidFill>
          <a:ln/>
        </p:spPr>
      </p:sp>
      <p:sp>
        <p:nvSpPr>
          <p:cNvPr id="21" name="Text 19"/>
          <p:cNvSpPr/>
          <p:nvPr/>
        </p:nvSpPr>
        <p:spPr>
          <a:xfrm>
            <a:off x="9931756" y="196596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1024 GB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86036" y="569671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minglab filmlar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Kiritish va chiqarish qurilmalari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10048" cy="3035808"/>
          </a:xfrm>
          <a:prstGeom prst="roundRect">
            <a:avLst>
              <a:gd name="adj" fmla="val 1807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26464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Kiritish qurilmalari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077" y="1969069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810512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va buyruqlar (Ctrl, Alt, Shift, Enter, F1–F12)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" y="2487168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77" y="2590861"/>
            <a:ext cx="176662" cy="176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432304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Sichqoncha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 — tanlash, o‘ng — kontekst menyu, g‘ildirak — aylantirish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86384" y="310896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77" y="3212653"/>
            <a:ext cx="176662" cy="176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054096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qog‘ozdagi matn va rasmni raqamli shaklga o‘tkazadi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86384" y="3730752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77" y="3834445"/>
            <a:ext cx="176662" cy="1766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3675888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Mikrofon va web-kamera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tovush hamda videotasvir kiritadi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233008" y="1298448"/>
            <a:ext cx="5410048" cy="3035808"/>
          </a:xfrm>
          <a:prstGeom prst="roundRect">
            <a:avLst>
              <a:gd name="adj" fmla="val 1807"/>
            </a:avLst>
          </a:prstGeom>
          <a:solidFill>
            <a:srgbClr val="E9F4F6"/>
          </a:solidFill>
          <a:ln/>
        </p:spPr>
      </p:sp>
      <p:sp>
        <p:nvSpPr>
          <p:cNvPr id="19" name="Text 13"/>
          <p:cNvSpPr/>
          <p:nvPr/>
        </p:nvSpPr>
        <p:spPr>
          <a:xfrm>
            <a:off x="6470752" y="1426464"/>
            <a:ext cx="495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 qurilmalari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70752" y="1865376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445" y="1969069"/>
            <a:ext cx="176662" cy="17666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82816" y="1810512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(dyuym) va aniqlik: 1920×1080 — Full HD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70752" y="2487168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445" y="2590861"/>
            <a:ext cx="176662" cy="17666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82816" y="2432304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lazerli — tez va tejamkor, siyohli — rangli chop etish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70752" y="310896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445" y="3212653"/>
            <a:ext cx="176662" cy="17666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82816" y="3054096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Karnay va quloqchin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tovushni chiqaradi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6470752" y="3730752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445" y="3834445"/>
            <a:ext cx="176662" cy="17666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82816" y="3675888"/>
            <a:ext cx="440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Proyektor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katta ekranga chiqaradi (taqdimotlar)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548640" y="45171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 portlari: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2468880" y="451713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2551176" y="4572000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4993" y="4665817"/>
            <a:ext cx="159837" cy="159837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2971800" y="45171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4782312" y="451713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4864608" y="4572000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8425" y="4665817"/>
            <a:ext cx="159837" cy="159837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285232" y="45171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/ VGA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7095744" y="451713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7178040" y="4572000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1857" y="4665817"/>
            <a:ext cx="159837" cy="159837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598664" y="45171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(RJ-45)</a:t>
            </a:r>
            <a:endParaRPr lang="en-US" sz="1150" dirty="0"/>
          </a:p>
        </p:txBody>
      </p:sp>
      <p:sp>
        <p:nvSpPr>
          <p:cNvPr id="45" name="Shape 32"/>
          <p:cNvSpPr/>
          <p:nvPr/>
        </p:nvSpPr>
        <p:spPr>
          <a:xfrm>
            <a:off x="9409176" y="451713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9491472" y="4572000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5289" y="4665817"/>
            <a:ext cx="159837" cy="159837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9912096" y="45171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1150" dirty="0"/>
          </a:p>
        </p:txBody>
      </p:sp>
      <p:sp>
        <p:nvSpPr>
          <p:cNvPr id="49" name="Shape 35"/>
          <p:cNvSpPr/>
          <p:nvPr/>
        </p:nvSpPr>
        <p:spPr>
          <a:xfrm>
            <a:off x="548640" y="5230368"/>
            <a:ext cx="11094415" cy="1024128"/>
          </a:xfrm>
          <a:prstGeom prst="roundRect">
            <a:avLst>
              <a:gd name="adj" fmla="val 5357"/>
            </a:avLst>
          </a:prstGeom>
          <a:solidFill>
            <a:srgbClr val="FDF3E1"/>
          </a:solidFill>
          <a:ln/>
        </p:spPr>
      </p:sp>
      <p:sp>
        <p:nvSpPr>
          <p:cNvPr id="50" name="Shape 36"/>
          <p:cNvSpPr/>
          <p:nvPr/>
        </p:nvSpPr>
        <p:spPr>
          <a:xfrm>
            <a:off x="804672" y="5504688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054" y="5633070"/>
            <a:ext cx="218724" cy="21872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1463040" y="5340096"/>
            <a:ext cx="990569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Fleshkani uzishdan oldin «Xavfsiz olib tashlash» (Safely Remove Hardware) funksiyasidan foydalaning. Kompyuterni faqat Shutdown orqali o‘chiring — elektrdan to‘g‘ridan-to‘g‘ri uzish fayllarga zarar yetkazishi mumkin.</a:t>
            </a:r>
            <a:endParaRPr lang="en-US" sz="1200" dirty="0"/>
          </a:p>
        </p:txBody>
      </p:sp>
      <p:sp>
        <p:nvSpPr>
          <p:cNvPr id="53" name="Text 38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54" name="Text 39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— kompyuterning «vositachisi»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106372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(OT)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qurilmalarni boshqaradigan, dasturlar ishlashini ta’minlaydigan va foydalanuvchi bilan kompyuter o‘rtasida vositachi bo‘lgan dasturlar majmui. OTsiz birorta ham dastur ishlamaydi.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480560" cy="2487168"/>
          </a:xfrm>
          <a:prstGeom prst="roundRect">
            <a:avLst>
              <a:gd name="adj" fmla="val 2206"/>
            </a:avLst>
          </a:prstGeom>
          <a:solidFill>
            <a:srgbClr val="E9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514600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5146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88336" y="3026664"/>
            <a:ext cx="201168" cy="219456"/>
          </a:xfrm>
          <a:prstGeom prst="downArrow">
            <a:avLst/>
          </a:prstGeom>
          <a:solidFill>
            <a:srgbClr val="2FA3B3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3282696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0E7C8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2826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88336" y="3794760"/>
            <a:ext cx="201168" cy="219456"/>
          </a:xfrm>
          <a:prstGeom prst="downArrow">
            <a:avLst/>
          </a:prstGeom>
          <a:solidFill>
            <a:srgbClr val="2FA3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4440" y="4050792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0507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 (qurilmalar)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03520" y="2331720"/>
            <a:ext cx="6339535" cy="2487168"/>
          </a:xfrm>
          <a:prstGeom prst="roundRect">
            <a:avLst>
              <a:gd name="adj" fmla="val 2206"/>
            </a:avLst>
          </a:prstGeom>
          <a:solidFill>
            <a:srgbClr val="E9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5541264" y="2450592"/>
            <a:ext cx="58823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vazifalari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59552" y="2830068"/>
            <a:ext cx="237744" cy="23774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743" y="2894259"/>
            <a:ext cx="109362" cy="1093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07024" y="2775204"/>
            <a:ext cx="5470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Kompyuterni ishga tushiradi, qurilmalarni tekshiradi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559552" y="3168396"/>
            <a:ext cx="237744" cy="23774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743" y="3232587"/>
            <a:ext cx="109362" cy="1093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907024" y="3113532"/>
            <a:ext cx="5470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va xotirani dasturlar o‘rtasida taqsimlaydi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559552" y="3506724"/>
            <a:ext cx="237744" cy="23774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743" y="3570915"/>
            <a:ext cx="109362" cy="1093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07024" y="3451860"/>
            <a:ext cx="5470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tizimini boshqaradi: saqlash, o‘qish, o‘chirish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559552" y="3845052"/>
            <a:ext cx="237744" cy="23774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743" y="3909243"/>
            <a:ext cx="109362" cy="1093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07024" y="3790188"/>
            <a:ext cx="5470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Interfeysni ta’minlaydi: oynalar, menyular, tugmalar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559552" y="4183380"/>
            <a:ext cx="237744" cy="23774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743" y="4247571"/>
            <a:ext cx="109362" cy="1093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07024" y="4128516"/>
            <a:ext cx="5470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Drayverlar orqali qurilmalar bilan ishlaydi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559552" y="4521708"/>
            <a:ext cx="237744" cy="23774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743" y="4585899"/>
            <a:ext cx="109362" cy="1093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907024" y="4466844"/>
            <a:ext cx="5470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Xavfsizlik: foydalanuvchilar va ruxsatlarni boshqaradi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5029200"/>
            <a:ext cx="11094415" cy="1078992"/>
          </a:xfrm>
          <a:prstGeom prst="roundRect">
            <a:avLst>
              <a:gd name="adj" fmla="val 5085"/>
            </a:avLst>
          </a:prstGeom>
          <a:solidFill>
            <a:srgbClr val="FDF3E1"/>
          </a:solidFill>
          <a:ln/>
        </p:spPr>
      </p:sp>
      <p:sp>
        <p:nvSpPr>
          <p:cNvPr id="36" name="Shape 28"/>
          <p:cNvSpPr/>
          <p:nvPr/>
        </p:nvSpPr>
        <p:spPr>
          <a:xfrm>
            <a:off x="804672" y="5330952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54" y="5459334"/>
            <a:ext cx="218724" cy="2187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63040" y="5138928"/>
            <a:ext cx="9905695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O‘xshatish: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— restoran ma’muri. Mehmonlar (dasturlar) buyurtma beradi, ma’mur esa oshxona (apparat) bilan kelishib, har kimga o‘z navbatida xizmat ko‘rsatilishini ta’minlaydi. Mehmonlar oshxonaga bevosita kira olmaydi.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tarqalgan operatsion tizimlar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57949" cy="2286000"/>
          </a:xfrm>
          <a:prstGeom prst="roundRect">
            <a:avLst>
              <a:gd name="adj" fmla="val 2666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275862" y="1591056"/>
            <a:ext cx="603504" cy="60350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808" y="1754002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20579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578608"/>
            <a:ext cx="20579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2871216"/>
            <a:ext cx="183849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kompyuter va noutbuklarning ko‘pchiligi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07757" y="1371600"/>
            <a:ext cx="2057949" cy="2286000"/>
          </a:xfrm>
          <a:prstGeom prst="roundRect">
            <a:avLst>
              <a:gd name="adj" fmla="val 2666"/>
            </a:avLst>
          </a:prstGeom>
          <a:solidFill>
            <a:srgbClr val="E9F4F6"/>
          </a:solidFill>
          <a:ln/>
        </p:spPr>
      </p:sp>
      <p:sp>
        <p:nvSpPr>
          <p:cNvPr id="11" name="Shape 8"/>
          <p:cNvSpPr/>
          <p:nvPr/>
        </p:nvSpPr>
        <p:spPr>
          <a:xfrm>
            <a:off x="3534979" y="1591056"/>
            <a:ext cx="603504" cy="60350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925" y="1754002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07757" y="2286000"/>
            <a:ext cx="20579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07757" y="2578608"/>
            <a:ext cx="20579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17485" y="2871216"/>
            <a:ext cx="183849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(Mac) kompyuterlari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66873" y="1371600"/>
            <a:ext cx="2057949" cy="2286000"/>
          </a:xfrm>
          <a:prstGeom prst="roundRect">
            <a:avLst>
              <a:gd name="adj" fmla="val 2666"/>
            </a:avLst>
          </a:prstGeom>
          <a:solidFill>
            <a:srgbClr val="E9F4F6"/>
          </a:solidFill>
          <a:ln/>
        </p:spPr>
      </p:sp>
      <p:sp>
        <p:nvSpPr>
          <p:cNvPr id="17" name="Shape 13"/>
          <p:cNvSpPr/>
          <p:nvPr/>
        </p:nvSpPr>
        <p:spPr>
          <a:xfrm>
            <a:off x="5794096" y="1591056"/>
            <a:ext cx="603504" cy="60350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042" y="1754002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66873" y="2286000"/>
            <a:ext cx="20579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66873" y="2578608"/>
            <a:ext cx="20579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hamjamiyat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176601" y="2871216"/>
            <a:ext cx="183849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Serverlar, mutaxassislar; bepul tizimlar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25990" y="1371600"/>
            <a:ext cx="2057949" cy="2286000"/>
          </a:xfrm>
          <a:prstGeom prst="roundRect">
            <a:avLst>
              <a:gd name="adj" fmla="val 2666"/>
            </a:avLst>
          </a:prstGeom>
          <a:solidFill>
            <a:srgbClr val="E9F4F6"/>
          </a:solidFill>
          <a:ln/>
        </p:spPr>
      </p:sp>
      <p:sp>
        <p:nvSpPr>
          <p:cNvPr id="23" name="Shape 18"/>
          <p:cNvSpPr/>
          <p:nvPr/>
        </p:nvSpPr>
        <p:spPr>
          <a:xfrm>
            <a:off x="8053212" y="1591056"/>
            <a:ext cx="603504" cy="60350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158" y="1754002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25990" y="2286000"/>
            <a:ext cx="20579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25990" y="2578608"/>
            <a:ext cx="20579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35718" y="2871216"/>
            <a:ext cx="183849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 va planshetlar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585107" y="1371600"/>
            <a:ext cx="2057949" cy="2286000"/>
          </a:xfrm>
          <a:prstGeom prst="roundRect">
            <a:avLst>
              <a:gd name="adj" fmla="val 2666"/>
            </a:avLst>
          </a:prstGeom>
          <a:solidFill>
            <a:srgbClr val="E9F4F6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12329" y="1591056"/>
            <a:ext cx="603504" cy="60350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275" y="1754002"/>
            <a:ext cx="277612" cy="2776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85107" y="2286000"/>
            <a:ext cx="20579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585107" y="2578608"/>
            <a:ext cx="20579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694835" y="2871216"/>
            <a:ext cx="183849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va iPad qurilmalari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48640" y="3977640"/>
            <a:ext cx="11094415" cy="1737360"/>
          </a:xfrm>
          <a:prstGeom prst="roundRect">
            <a:avLst>
              <a:gd name="adj" fmla="val 3158"/>
            </a:avLst>
          </a:prstGeom>
          <a:solidFill>
            <a:srgbClr val="E9F4F6"/>
          </a:solidFill>
          <a:ln/>
        </p:spPr>
      </p:sp>
      <p:sp>
        <p:nvSpPr>
          <p:cNvPr id="35" name="Shape 28"/>
          <p:cNvSpPr/>
          <p:nvPr/>
        </p:nvSpPr>
        <p:spPr>
          <a:xfrm>
            <a:off x="804672" y="4187952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54" y="4316334"/>
            <a:ext cx="218724" cy="2187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63040" y="4133088"/>
            <a:ext cx="9905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dunyodagi eng ko‘p tarqalgan shaxsiy kompyuter operatsion tizimi. Interfeysining asosiy elementlari: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822960" y="4937760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22960" y="493776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(Desktop)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2962656" y="4937760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962656" y="493776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menyusi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102352" y="4937760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5102352" y="493776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 paneli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7242048" y="4937760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242048" y="493776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Oynalar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9381744" y="4937760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9381744" y="4937760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Fayl, papka va fayl manzili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309360" cy="1691640"/>
          </a:xfrm>
          <a:prstGeom prst="roundRect">
            <a:avLst>
              <a:gd name="adj" fmla="val 3243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08176"/>
            <a:ext cx="5833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diskda nom bilan saqlanadigan ma’lumotlar to‘plami. Har bir fayl nom va kengaytmadan iborat: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" y="1938528"/>
            <a:ext cx="5833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</a:t>
            </a:r>
            <a:pPr algn="ctr" indent="0" marL="0">
              <a:buNone/>
            </a:pPr>
            <a:r>
              <a:rPr lang="en-US" sz="2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487168"/>
            <a:ext cx="5833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</a:t>
            </a:r>
            <a:pPr algn="ctr" indent="0" marL="0"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nom      </a:t>
            </a:r>
            <a:pPr algn="ctr" indent="0" marL="0">
              <a:buNone/>
            </a:pPr>
            <a:r>
              <a:rPr lang="en-US" sz="11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pPr algn="ctr" indent="0" marL="0"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kengaytma (fayl turi: Word hujjati)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73552"/>
            <a:ext cx="5833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Yo‘l (path)</a:t>
            </a:r>
            <a:pPr indent="0" marL="0"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faylning diskdagi aniq manzili: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3621024"/>
            <a:ext cx="58338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2102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C:\Hujjatlar\Hisobotlar\yanvar.docx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411480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diskidagi Hujjatlar papkasi ichidagi Hisobotlar papkasida joylashgan fayl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1298448"/>
            <a:ext cx="4510735" cy="3246120"/>
          </a:xfrm>
          <a:prstGeom prst="roundRect">
            <a:avLst>
              <a:gd name="adj" fmla="val 1690"/>
            </a:avLst>
          </a:prstGeom>
          <a:solidFill>
            <a:srgbClr val="E9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70064" y="1426464"/>
            <a:ext cx="4053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Daraxtsimon tuzilma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302" y="1958462"/>
            <a:ext cx="143012" cy="143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63840" y="1819656"/>
            <a:ext cx="364205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(C:)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62088" y="2267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36408" y="2313432"/>
            <a:ext cx="310896" cy="3108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350" y="2397374"/>
            <a:ext cx="143012" cy="1430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47888" y="2258568"/>
            <a:ext cx="325800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946136" y="27066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0456" y="2752344"/>
            <a:ext cx="310896" cy="3108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398" y="2836286"/>
            <a:ext cx="143012" cy="1430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31936" y="2697480"/>
            <a:ext cx="287395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330184" y="3145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604504" y="3191256"/>
            <a:ext cx="310896" cy="31089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446" y="3275198"/>
            <a:ext cx="143012" cy="1430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15984" y="3136392"/>
            <a:ext cx="248991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yanvar.docx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562088" y="35844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36408" y="3630168"/>
            <a:ext cx="310896" cy="31089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350" y="3714110"/>
            <a:ext cx="143012" cy="1430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47888" y="3575304"/>
            <a:ext cx="325800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Rasmlar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946136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220456" y="4069080"/>
            <a:ext cx="310896" cy="31089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398" y="4153022"/>
            <a:ext cx="143012" cy="1430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631936" y="4014216"/>
            <a:ext cx="287395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tog‘.jpg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370064" y="4160520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— fayllarni tartibli saqlash «idishi»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48640" y="47000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amallar: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2331720" y="470001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331720" y="47000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3822192" y="470001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822192" y="47000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nomlash (F2)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5724144" y="470001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5724144" y="47000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 (Ctrl+C)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7626096" y="470001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7626096" y="47000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Ko‘chirish (Ctrl+X)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9528048" y="470001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9528048" y="47000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O‘chirish (Delete)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548640" y="5358384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/>
        </p:spPr>
      </p:sp>
      <p:sp>
        <p:nvSpPr>
          <p:cNvPr id="51" name="Shape 43"/>
          <p:cNvSpPr/>
          <p:nvPr/>
        </p:nvSpPr>
        <p:spPr>
          <a:xfrm>
            <a:off x="804672" y="5577840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54" y="5706222"/>
            <a:ext cx="218724" cy="218724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463040" y="5468112"/>
            <a:ext cx="990569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O‘chirilgan fayl avval Savat (Recycle Bin)ga tushadi — uni qayta tiklash mumkin. Shift+Delete esa faylni butunlay o‘chiradi! Muhim fayllarning zaxira nusxasini (backup) saqlang.</a:t>
            </a:r>
            <a:endParaRPr lang="en-US" sz="1200" dirty="0"/>
          </a:p>
        </p:txBody>
      </p:sp>
      <p:sp>
        <p:nvSpPr>
          <p:cNvPr id="54" name="Text 45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tarqalgan fayl kengaytmalari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50876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Matnli hujjat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2978" y="141732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8" name="Text 6"/>
          <p:cNvSpPr/>
          <p:nvPr/>
        </p:nvSpPr>
        <p:spPr>
          <a:xfrm>
            <a:off x="4505858" y="141732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60338" y="150876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jadval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41732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11" name="Text 9"/>
          <p:cNvSpPr/>
          <p:nvPr/>
        </p:nvSpPr>
        <p:spPr>
          <a:xfrm>
            <a:off x="8280197" y="141732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34677" y="150876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0604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269748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hujjat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Reader, brauzer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2978" y="260604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05858" y="260604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.jpg / .png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60338" y="269748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ko‘rish dasturlari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7317" y="260604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8280197" y="260604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34677" y="269748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(musiqa)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pleyerlar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9476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86000" y="388620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pleyerlar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2978" y="379476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05858" y="379476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.zip / .rar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60338" y="388620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(siqilgan)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WinRAR, 7-Zip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7317" y="3794760"/>
            <a:ext cx="3545738" cy="969264"/>
          </a:xfrm>
          <a:prstGeom prst="roundRect">
            <a:avLst>
              <a:gd name="adj" fmla="val 5660"/>
            </a:avLst>
          </a:prstGeom>
          <a:solidFill>
            <a:srgbClr val="E9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8280197" y="3794760"/>
            <a:ext cx="1508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34677" y="3886200"/>
            <a:ext cx="167121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Bajariluvchi dastur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ishga tushiradi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DF3E1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672" y="5362956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5491338"/>
            <a:ext cx="218724" cy="21872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63040" y="5276088"/>
            <a:ext cx="990569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Kengaytma nuqtadan keyin yoziladi va faylning turini — uni qaysi dastur ochishini bildiradi.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dasturlar va ularning turlari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ta’minot (software)</a:t>
            </a:r>
            <a:pPr indent="0" marL="0">
              <a:buNone/>
            </a:pPr>
            <a:r>
              <a:rPr lang="en-US" sz="12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uch guruhga bo‘linadi:  </a:t>
            </a:r>
            <a:pPr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tizimli</a:t>
            </a:r>
            <a:pPr indent="0" marL="0"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(OT, drayverlar) · </a:t>
            </a:r>
            <a:pPr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</a:t>
            </a:r>
            <a:pPr indent="0" marL="0"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(foydalanuvchi vazifalari) · </a:t>
            </a:r>
            <a:pPr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(dastur yaratish vositalari)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584541" y="2468880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736" y="2612075"/>
            <a:ext cx="243962" cy="243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089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muharriri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401568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LibreOffice Writer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79394" y="2286000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4415295" y="2468880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490" y="2612075"/>
            <a:ext cx="243962" cy="243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79394" y="31089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jadval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89122" y="3401568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LibreOffice Calc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0148" y="2286000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17" name="Shape 13"/>
          <p:cNvSpPr/>
          <p:nvPr/>
        </p:nvSpPr>
        <p:spPr>
          <a:xfrm>
            <a:off x="7246049" y="2468880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44" y="2612075"/>
            <a:ext cx="243962" cy="243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0148" y="31089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19876" y="3401568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PowerPoint, Canva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40901" y="2286000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76802" y="2468880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997" y="2612075"/>
            <a:ext cx="243962" cy="2439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40901" y="31089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dastur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150629" y="3401568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Paint, Photoshop, GIMP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4306824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27" name="Shape 21"/>
          <p:cNvSpPr/>
          <p:nvPr/>
        </p:nvSpPr>
        <p:spPr>
          <a:xfrm>
            <a:off x="1584541" y="4489704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736" y="4632899"/>
            <a:ext cx="243962" cy="2439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" y="5129784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58368" y="5422392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379394" y="4306824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32" name="Shape 25"/>
          <p:cNvSpPr/>
          <p:nvPr/>
        </p:nvSpPr>
        <p:spPr>
          <a:xfrm>
            <a:off x="4415295" y="4489704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490" y="4632899"/>
            <a:ext cx="243962" cy="2439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379394" y="5129784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pleyer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3489122" y="5422392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VLC, Windows Media Player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10148" y="4306824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37" name="Shape 29"/>
          <p:cNvSpPr/>
          <p:nvPr/>
        </p:nvSpPr>
        <p:spPr>
          <a:xfrm>
            <a:off x="7246049" y="4489704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9244" y="4632899"/>
            <a:ext cx="243962" cy="24396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210148" y="5129784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Arxivator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319876" y="5422392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WinRAR, 7-Zip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040901" y="4306824"/>
            <a:ext cx="2602154" cy="1783080"/>
          </a:xfrm>
          <a:prstGeom prst="roundRect">
            <a:avLst>
              <a:gd name="adj" fmla="val 3077"/>
            </a:avLst>
          </a:prstGeom>
          <a:solidFill>
            <a:srgbClr val="E9F4F6"/>
          </a:solidFill>
          <a:ln/>
        </p:spPr>
      </p:sp>
      <p:sp>
        <p:nvSpPr>
          <p:cNvPr id="42" name="Shape 33"/>
          <p:cNvSpPr/>
          <p:nvPr/>
        </p:nvSpPr>
        <p:spPr>
          <a:xfrm>
            <a:off x="10076802" y="4489704"/>
            <a:ext cx="530352" cy="53035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9997" y="4632899"/>
            <a:ext cx="243962" cy="24396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40901" y="5129784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9150629" y="5422392"/>
            <a:ext cx="23826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Defender, Kaspersky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klaviatura birikmalari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4592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4592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07757" y="146304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9" name="Shape 7"/>
          <p:cNvSpPr/>
          <p:nvPr/>
        </p:nvSpPr>
        <p:spPr>
          <a:xfrm>
            <a:off x="3008925" y="164592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925" y="164592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9197" y="217627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Kesib olish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66873" y="146304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268041" y="164592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8041" y="164592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58313" y="217627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Qo‘yish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5990" y="146304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527158" y="164592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7158" y="164592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17430" y="217627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Bekor qilish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85107" y="146304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786275" y="164592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6275" y="164592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76547" y="217627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29184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29184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82219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Hammasini belgilash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07757" y="310896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3008925" y="329184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08925" y="329184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99197" y="382219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Qidirish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66873" y="310896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268041" y="329184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8041" y="329184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Tab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58313" y="382219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Dasturlar orasida o‘tish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25990" y="310896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37" name="Shape 35"/>
          <p:cNvSpPr/>
          <p:nvPr/>
        </p:nvSpPr>
        <p:spPr>
          <a:xfrm>
            <a:off x="7527158" y="329184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7158" y="329184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17430" y="382219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stolini ko‘rsatish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85107" y="310896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E9F4F6"/>
          </a:solidFill>
          <a:ln/>
        </p:spPr>
      </p:sp>
      <p:sp>
        <p:nvSpPr>
          <p:cNvPr id="41" name="Shape 39"/>
          <p:cNvSpPr/>
          <p:nvPr/>
        </p:nvSpPr>
        <p:spPr>
          <a:xfrm>
            <a:off x="9786275" y="3291840"/>
            <a:ext cx="1655613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9C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6275" y="3291840"/>
            <a:ext cx="16556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Screen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76547" y="3822192"/>
            <a:ext cx="18750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suratini olish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FDF3E1"/>
          </a:solidFill>
          <a:ln/>
        </p:spPr>
      </p:sp>
      <p:sp>
        <p:nvSpPr>
          <p:cNvPr id="45" name="Shape 43"/>
          <p:cNvSpPr/>
          <p:nvPr/>
        </p:nvSpPr>
        <p:spPr>
          <a:xfrm>
            <a:off x="804672" y="5134356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5262738"/>
            <a:ext cx="218724" cy="218724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463040" y="4956048"/>
            <a:ext cx="9905695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ustida ishlayotganda Ctrl+S ni tez-tez bosib turing — elektr uzilishi yoki dastur xatosi tufayli saqlanmagan ish yo‘qolishi mumkin. Birikmalarni o‘rganish ish tezligini sezilarli oshiradi.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va kompyuter tarmoqlari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tarmog‘i</a:t>
            </a:r>
            <a:pPr indent="0" marL="0">
              <a:buNone/>
            </a:pPr>
            <a:r>
              <a:rPr lang="en-US" sz="12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ma’lumot almashish maqsadida o‘zaro bog‘langan ikki yoki undan ortiq kompyuterlar tizimi.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4572000" cy="1298448"/>
          </a:xfrm>
          <a:prstGeom prst="roundRect">
            <a:avLst>
              <a:gd name="adj" fmla="val 4225"/>
            </a:avLst>
          </a:prstGeom>
          <a:solidFill>
            <a:srgbClr val="E9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847088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70532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tarmoq (LAN)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hudud: bino, ofis yoki sinf ichidagi tarmoq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90672"/>
            <a:ext cx="4572000" cy="1298448"/>
          </a:xfrm>
          <a:prstGeom prst="roundRect">
            <a:avLst>
              <a:gd name="adj" fmla="val 4225"/>
            </a:avLst>
          </a:prstGeom>
          <a:solidFill>
            <a:srgbClr val="E9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3273552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39699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3209544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tarmoq (WAN)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Mamlakat va qit’alarni qamraydi. Eng kattasi — Internet: «tarmoqlar tarmog‘i»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94960" y="1664208"/>
            <a:ext cx="6248095" cy="2724912"/>
          </a:xfrm>
          <a:prstGeom prst="roundRect">
            <a:avLst>
              <a:gd name="adj" fmla="val 2013"/>
            </a:avLst>
          </a:prstGeom>
          <a:solidFill>
            <a:srgbClr val="E9F4F6"/>
          </a:solidFill>
          <a:ln/>
        </p:spPr>
      </p:sp>
      <p:sp>
        <p:nvSpPr>
          <p:cNvPr id="14" name="Text 10"/>
          <p:cNvSpPr/>
          <p:nvPr/>
        </p:nvSpPr>
        <p:spPr>
          <a:xfrm>
            <a:off x="5632704" y="1792224"/>
            <a:ext cx="5790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qanday ishlaydi?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50992" y="2231136"/>
            <a:ext cx="329184" cy="329184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6" name="Text 12"/>
          <p:cNvSpPr/>
          <p:nvPr/>
        </p:nvSpPr>
        <p:spPr>
          <a:xfrm>
            <a:off x="5650992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08192" y="2148840"/>
            <a:ext cx="52422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Ma’lumotlar kichik bo‘laklarga — paketlarga bo‘lib uzatiladi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50992" y="2944368"/>
            <a:ext cx="329184" cy="329184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9" name="Text 15"/>
          <p:cNvSpPr/>
          <p:nvPr/>
        </p:nvSpPr>
        <p:spPr>
          <a:xfrm>
            <a:off x="5650992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108192" y="2862072"/>
            <a:ext cx="52422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qurilmaning o‘z IP manzili bor (masalan, 192.168.1.10) — paketlar shu manzil bo‘yicha yetkaziladi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650992" y="3657600"/>
            <a:ext cx="329184" cy="329184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22" name="Text 18"/>
          <p:cNvSpPr/>
          <p:nvPr/>
        </p:nvSpPr>
        <p:spPr>
          <a:xfrm>
            <a:off x="5650992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108192" y="3575304"/>
            <a:ext cx="52422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Uzatish qoidalarini protokollar belgilaydi, asosiysi — TCP/IP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4553712"/>
            <a:ext cx="2622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5800" y="4690872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" y="4794565"/>
            <a:ext cx="176662" cy="1766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70432" y="4626864"/>
            <a:ext cx="187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chiqish, paketlarni yo‘naltiradi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372536" y="4553712"/>
            <a:ext cx="2622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509696" y="4690872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389" y="4794565"/>
            <a:ext cx="176662" cy="17666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994328" y="4626864"/>
            <a:ext cx="187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Kommutator (switch)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tarmoqni bog‘laydi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196432" y="4553712"/>
            <a:ext cx="2622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333592" y="4690872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285" y="4794565"/>
            <a:ext cx="176662" cy="17666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818224" y="4626864"/>
            <a:ext cx="187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provayder signalini o‘giradi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9020327" y="4553712"/>
            <a:ext cx="2622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9157487" y="4690872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1180" y="4794565"/>
            <a:ext cx="176662" cy="17666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42119" y="4626864"/>
            <a:ext cx="187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nuqtasi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simsiz ulanish beradi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48640" y="5614416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E9F4F6"/>
          </a:solidFill>
          <a:ln/>
        </p:spPr>
      </p:sp>
      <p:sp>
        <p:nvSpPr>
          <p:cNvPr id="41" name="Shape 33"/>
          <p:cNvSpPr/>
          <p:nvPr/>
        </p:nvSpPr>
        <p:spPr>
          <a:xfrm>
            <a:off x="804672" y="5751576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54" y="5879958"/>
            <a:ext cx="218724" cy="21872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463040" y="5724144"/>
            <a:ext cx="990569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FAKT.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tezligi Mbit/s da o‘lchanadi. 8 megabit = 1 megabayt, ya’ni 80 Mbit/s tezlik ≈ sekundiga 10 MB yuklab olish.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internet xizmatlari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5738" cy="1645920"/>
          </a:xfrm>
          <a:prstGeom prst="roundRect">
            <a:avLst>
              <a:gd name="adj" fmla="val 3333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773936"/>
            <a:ext cx="493776" cy="49377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416" y="1907256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37360"/>
            <a:ext cx="25856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 (WWW)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6384" y="2450592"/>
            <a:ext cx="30702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saytlar va sahifalar tizimi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554480"/>
            <a:ext cx="3545738" cy="1645920"/>
          </a:xfrm>
          <a:prstGeom prst="roundRect">
            <a:avLst>
              <a:gd name="adj" fmla="val 3333"/>
            </a:avLst>
          </a:prstGeom>
          <a:solidFill>
            <a:srgbClr val="E9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42434" y="1773936"/>
            <a:ext cx="493776" cy="49377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754" y="190725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4226" y="1737360"/>
            <a:ext cx="25856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 (e-mail)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60722" y="2450592"/>
            <a:ext cx="30702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 va fayllar almashish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7317" y="1554480"/>
            <a:ext cx="3545738" cy="1645920"/>
          </a:xfrm>
          <a:prstGeom prst="roundRect">
            <a:avLst>
              <a:gd name="adj" fmla="val 3333"/>
            </a:avLst>
          </a:prstGeom>
          <a:solidFill>
            <a:srgbClr val="E9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16773" y="1773936"/>
            <a:ext cx="493776" cy="49377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92" y="1907256"/>
            <a:ext cx="227137" cy="2271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8565" y="1737360"/>
            <a:ext cx="25856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tizimlari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5061" y="2450592"/>
            <a:ext cx="30702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Kerakli ma’lumotni topish: Google, Yandex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474720"/>
            <a:ext cx="3545738" cy="1645920"/>
          </a:xfrm>
          <a:prstGeom prst="roundRect">
            <a:avLst>
              <a:gd name="adj" fmla="val 3333"/>
            </a:avLst>
          </a:prstGeom>
          <a:solidFill>
            <a:srgbClr val="E9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3694176"/>
            <a:ext cx="493776" cy="49377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16" y="3827496"/>
            <a:ext cx="227137" cy="2271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657600"/>
            <a:ext cx="25856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Messenjerlar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86384" y="4370832"/>
            <a:ext cx="30702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Tezkor xabar almashish: Telegram va boshqalar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2978" y="3474720"/>
            <a:ext cx="3545738" cy="1645920"/>
          </a:xfrm>
          <a:prstGeom prst="roundRect">
            <a:avLst>
              <a:gd name="adj" fmla="val 3333"/>
            </a:avLst>
          </a:prstGeom>
          <a:solidFill>
            <a:srgbClr val="E9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2434" y="3694176"/>
            <a:ext cx="493776" cy="49377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754" y="3827496"/>
            <a:ext cx="227137" cy="227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4226" y="3657600"/>
            <a:ext cx="25856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xizmatlar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60722" y="4370832"/>
            <a:ext cx="30702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internetda saqlash: Google Drive, OneDrive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7317" y="3474720"/>
            <a:ext cx="3545738" cy="1645920"/>
          </a:xfrm>
          <a:prstGeom prst="roundRect">
            <a:avLst>
              <a:gd name="adj" fmla="val 3333"/>
            </a:avLst>
          </a:prstGeom>
          <a:solidFill>
            <a:srgbClr val="E9F4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16773" y="3694176"/>
            <a:ext cx="493776" cy="493776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092" y="3827496"/>
            <a:ext cx="227137" cy="2271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8565" y="3657600"/>
            <a:ext cx="25856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xizmatlar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5061" y="4370832"/>
            <a:ext cx="30702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ko‘rish va joylash: YouTube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E9F4F6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pPr algn="ctr" indent="0" marL="0"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butun dunyo bo‘ylab millionlab tarmoqlarni birlashtirgan tizim: unga ulangan har bir qurilma boshqa istalgan qurilma bilan ma’lumot almasha oladi.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dasturlar va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E9F4F6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2646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dasturlar turlari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" y="187452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077" y="1978213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81051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fayllarga «yopishib» tarqaladi, ma’lumotlarni buzadi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" y="246888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77" y="2572573"/>
            <a:ext cx="176662" cy="176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40487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Troyan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dastur niqobi ostida yashirincha zarar yetkazadi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6384" y="306324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77" y="3166933"/>
            <a:ext cx="176662" cy="176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299923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Chuvalchang (worm)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orqali o‘z-o‘zidan tarqaladi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6384" y="365760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77" y="3761293"/>
            <a:ext cx="176662" cy="1766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359359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shifrlab, qaytarish uchun pul talab qiladi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86384" y="425196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77" y="4355653"/>
            <a:ext cx="176662" cy="17666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418795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harakatlarni yashirincha kuzatadi, parollarni o‘g‘irlaydi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786384" y="4846320"/>
            <a:ext cx="384048" cy="38404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077" y="4950013"/>
            <a:ext cx="176662" cy="17666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98448" y="478231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Adware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ruxsatsiz reklama ko‘rsatadi, brauzerni o‘zgartiradi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7132320" y="1298448"/>
            <a:ext cx="4510735" cy="4160520"/>
          </a:xfrm>
          <a:prstGeom prst="roundRect">
            <a:avLst>
              <a:gd name="adj" fmla="val 1319"/>
            </a:avLst>
          </a:prstGeom>
          <a:solidFill>
            <a:srgbClr val="FDF3E1"/>
          </a:solidFill>
          <a:ln/>
        </p:spPr>
      </p:sp>
      <p:sp>
        <p:nvSpPr>
          <p:cNvPr id="25" name="Shape 17"/>
          <p:cNvSpPr/>
          <p:nvPr/>
        </p:nvSpPr>
        <p:spPr>
          <a:xfrm>
            <a:off x="7370064" y="1463040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446" y="1591422"/>
            <a:ext cx="218724" cy="21872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973568" y="1517904"/>
            <a:ext cx="35048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— «qarmoq»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7370064" y="2029968"/>
            <a:ext cx="4035247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Soxta sayt va xatlar orqali parol, karta raqami kabi maxfiy ma’lumotlarni aldab qo‘lga kiritish usuli.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7370064" y="2724912"/>
            <a:ext cx="4035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Belgilari: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7388352" y="3072384"/>
            <a:ext cx="274320" cy="27432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2418" y="3146450"/>
            <a:ext cx="126187" cy="126187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772400" y="2999232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Shoshiltiruvchi ohang: «Hisobingiz bloklanadi!»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7388352" y="3639312"/>
            <a:ext cx="274320" cy="27432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2418" y="3713378"/>
            <a:ext cx="126187" cy="126187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772400" y="3566160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G‘alati, notanish manzillar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7388352" y="4206240"/>
            <a:ext cx="274320" cy="27432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2418" y="4280306"/>
            <a:ext cx="126187" cy="126187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772400" y="4133088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Imlo xatolari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7388352" y="4773168"/>
            <a:ext cx="274320" cy="27432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2418" y="4847234"/>
            <a:ext cx="126187" cy="126187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7772400" y="4700016"/>
            <a:ext cx="3596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Kutilmagan ilova fayllar</a:t>
            </a:r>
            <a:endParaRPr lang="en-US" sz="1100" dirty="0"/>
          </a:p>
        </p:txBody>
      </p:sp>
      <p:sp>
        <p:nvSpPr>
          <p:cNvPr id="42" name="Shape 29"/>
          <p:cNvSpPr/>
          <p:nvPr/>
        </p:nvSpPr>
        <p:spPr>
          <a:xfrm>
            <a:off x="548640" y="5614416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DF3E1"/>
          </a:solidFill>
          <a:ln/>
        </p:spPr>
      </p:sp>
      <p:sp>
        <p:nvSpPr>
          <p:cNvPr id="43" name="Shape 30"/>
          <p:cNvSpPr/>
          <p:nvPr/>
        </p:nvSpPr>
        <p:spPr>
          <a:xfrm>
            <a:off x="804672" y="5751576"/>
            <a:ext cx="475488" cy="47548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054" y="5879958"/>
            <a:ext cx="218724" cy="218724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1463040" y="5724144"/>
            <a:ext cx="990569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bir bank yoki rasmiy tashkilot sizdan parolingizni yoki kartangizning maxfiy kodlarini so‘ramaydi! Bunday so‘rov — firibgarlik belgisi.</a:t>
            </a:r>
            <a:endParaRPr lang="en-US" sz="1200" dirty="0"/>
          </a:p>
        </p:txBody>
      </p:sp>
      <p:sp>
        <p:nvSpPr>
          <p:cNvPr id="46" name="Text 32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ishlash qoidalari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481328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60477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361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 qoidalari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4672" y="2185416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89" y="2279233"/>
            <a:ext cx="159837" cy="1598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07568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Kamida 12 belgidan iborat bo‘lsin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4672" y="2962656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89" y="3056473"/>
            <a:ext cx="159837" cy="1598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28529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Katta-kichik harflar + raqamlar + maxsus belgilar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4672" y="3739896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489" y="3833713"/>
            <a:ext cx="159837" cy="1598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36301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Ism, tug‘ilgan sana yoki «123456» — mumkin emas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04672" y="4517136"/>
            <a:ext cx="347472" cy="347472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489" y="4610953"/>
            <a:ext cx="159837" cy="15983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98448" y="440740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xizmatlarda ikki bosqichli autentifikatsiyani yoqing (SMS-kod yoki ilova)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852160" y="1325880"/>
            <a:ext cx="5790895" cy="4023360"/>
          </a:xfrm>
          <a:prstGeom prst="roundRect">
            <a:avLst>
              <a:gd name="adj" fmla="val 1364"/>
            </a:avLst>
          </a:prstGeom>
          <a:solidFill>
            <a:srgbClr val="E9F4F6"/>
          </a:solidFill>
          <a:ln/>
        </p:spPr>
      </p:sp>
      <p:sp>
        <p:nvSpPr>
          <p:cNvPr id="21" name="Text 14"/>
          <p:cNvSpPr/>
          <p:nvPr/>
        </p:nvSpPr>
        <p:spPr>
          <a:xfrm>
            <a:off x="6089904" y="1463040"/>
            <a:ext cx="5333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Xavfsizlikning oltin qoidalari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108192" y="2011680"/>
            <a:ext cx="292608" cy="29260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196" y="2090684"/>
            <a:ext cx="134600" cy="134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28816" y="1929384"/>
            <a:ext cx="4830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o‘rnating va muntazam yangilab turing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108192" y="2560320"/>
            <a:ext cx="292608" cy="29260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196" y="2639324"/>
            <a:ext cx="134600" cy="134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28816" y="2478024"/>
            <a:ext cx="4830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va dasturlar yangilanishlarini o‘z vaqtida o‘rnating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6108192" y="3108960"/>
            <a:ext cx="292608" cy="29260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7196" y="3187964"/>
            <a:ext cx="134600" cy="134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528816" y="3026664"/>
            <a:ext cx="4830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Notanish havolalarni bosmang, shubhali ilova fayllarni ochmang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6108192" y="3657600"/>
            <a:ext cx="292608" cy="29260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7196" y="3736604"/>
            <a:ext cx="134600" cy="134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528816" y="3575304"/>
            <a:ext cx="4830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muhim xizmat uchun alohida kuchli parol ishlating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6108192" y="4206240"/>
            <a:ext cx="292608" cy="29260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7196" y="4285244"/>
            <a:ext cx="134600" cy="1346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528816" y="4123944"/>
            <a:ext cx="4830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fayllarning zaxira nusxasini (backup) saqlang</a:t>
            </a:r>
            <a:endParaRPr lang="en-US" sz="1150" dirty="0"/>
          </a:p>
        </p:txBody>
      </p:sp>
      <p:sp>
        <p:nvSpPr>
          <p:cNvPr id="37" name="Shape 25"/>
          <p:cNvSpPr/>
          <p:nvPr/>
        </p:nvSpPr>
        <p:spPr>
          <a:xfrm>
            <a:off x="6108192" y="4754880"/>
            <a:ext cx="292608" cy="29260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7196" y="4833884"/>
            <a:ext cx="134600" cy="13460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528816" y="4672584"/>
            <a:ext cx="4830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(parolsiz) Wi-Fi tarmoqlarida bank hisoblariga kirmang</a:t>
            </a:r>
            <a:endParaRPr lang="en-US" sz="1150" dirty="0"/>
          </a:p>
        </p:txBody>
      </p:sp>
      <p:sp>
        <p:nvSpPr>
          <p:cNvPr id="40" name="Shape 27"/>
          <p:cNvSpPr/>
          <p:nvPr/>
        </p:nvSpPr>
        <p:spPr>
          <a:xfrm>
            <a:off x="548640" y="5532120"/>
            <a:ext cx="11094415" cy="804672"/>
          </a:xfrm>
          <a:prstGeom prst="roundRect">
            <a:avLst>
              <a:gd name="adj" fmla="val 6818"/>
            </a:avLst>
          </a:prstGeom>
          <a:solidFill>
            <a:srgbClr val="E9F4F6"/>
          </a:solidFill>
          <a:ln/>
        </p:spPr>
      </p:sp>
      <p:sp>
        <p:nvSpPr>
          <p:cNvPr id="41" name="Shape 28"/>
          <p:cNvSpPr/>
          <p:nvPr/>
        </p:nvSpPr>
        <p:spPr>
          <a:xfrm>
            <a:off x="804672" y="5696712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054" y="5825094"/>
            <a:ext cx="218724" cy="21872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463040" y="5641848"/>
            <a:ext cx="990569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xavfsizligi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ma’lumotlarni ruxsatsiz kirish, o‘zgartirish, o‘g‘irlash va yo‘q qilishdan himoya qilish. Bu — shaxsiy ma’lumot va mablag‘laringizni saqlash masalasi.</a:t>
            </a:r>
            <a:endParaRPr lang="en-US" sz="1200" dirty="0"/>
          </a:p>
        </p:txBody>
      </p:sp>
      <p:sp>
        <p:nvSpPr>
          <p:cNvPr id="44" name="Text 30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· MAVZU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mashg‘ulotlar — bilimni ko‘nikmaga aylantiramiz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2154" cy="3154680"/>
          </a:xfrm>
          <a:prstGeom prst="roundRect">
            <a:avLst>
              <a:gd name="adj" fmla="val 2108"/>
            </a:avLst>
          </a:prstGeom>
          <a:solidFill>
            <a:srgbClr val="E9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68249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82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37562" y="1682496"/>
            <a:ext cx="512064" cy="51206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819" y="1820753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377440"/>
            <a:ext cx="21998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qurilmalari bilan ishlash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3127248"/>
            <a:ext cx="21906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Yoqish va to‘g‘ri o‘chirish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Sichqoncha va klaviatura mashqi</a:t>
            </a:r>
            <a:endParaRPr lang="en-US" sz="10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o‘zgartirish (Alt+Shift)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79394" y="1463040"/>
            <a:ext cx="2602154" cy="3154680"/>
          </a:xfrm>
          <a:prstGeom prst="roundRect">
            <a:avLst>
              <a:gd name="adj" fmla="val 2108"/>
            </a:avLst>
          </a:prstGeom>
          <a:solidFill>
            <a:srgbClr val="E9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3598850" y="168249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3" name="Text 10"/>
          <p:cNvSpPr/>
          <p:nvPr/>
        </p:nvSpPr>
        <p:spPr>
          <a:xfrm>
            <a:off x="3598850" y="1682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268316" y="1682496"/>
            <a:ext cx="512064" cy="51206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573" y="182075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0562" y="2377440"/>
            <a:ext cx="21998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interfeysi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98850" y="3127248"/>
            <a:ext cx="21906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menyusi va yorliqlar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Oynalarni boshqarish</a:t>
            </a:r>
            <a:endParaRPr lang="en-US" sz="10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Alt+Tab bilan o‘tish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10148" y="1463040"/>
            <a:ext cx="2602154" cy="3154680"/>
          </a:xfrm>
          <a:prstGeom prst="roundRect">
            <a:avLst>
              <a:gd name="adj" fmla="val 2108"/>
            </a:avLst>
          </a:prstGeom>
          <a:solidFill>
            <a:srgbClr val="E9F4F6"/>
          </a:solidFill>
          <a:ln/>
        </p:spPr>
      </p:sp>
      <p:sp>
        <p:nvSpPr>
          <p:cNvPr id="19" name="Shape 15"/>
          <p:cNvSpPr/>
          <p:nvPr/>
        </p:nvSpPr>
        <p:spPr>
          <a:xfrm>
            <a:off x="6429604" y="168249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0" name="Text 16"/>
          <p:cNvSpPr/>
          <p:nvPr/>
        </p:nvSpPr>
        <p:spPr>
          <a:xfrm>
            <a:off x="6429604" y="1682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099069" y="1682496"/>
            <a:ext cx="512064" cy="51206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327" y="1820753"/>
            <a:ext cx="235549" cy="2355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11316" y="2377440"/>
            <a:ext cx="21998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va papkalar amaliyoti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29604" y="3127248"/>
            <a:ext cx="21906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Papkalar tizimini yaratish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 va qayta nomlash</a:t>
            </a:r>
            <a:endParaRPr lang="en-US" sz="10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Savatdan qayta tiklash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40901" y="1463040"/>
            <a:ext cx="2602154" cy="3154680"/>
          </a:xfrm>
          <a:prstGeom prst="roundRect">
            <a:avLst>
              <a:gd name="adj" fmla="val 2108"/>
            </a:avLst>
          </a:prstGeom>
          <a:solidFill>
            <a:srgbClr val="E9F4F6"/>
          </a:solidFill>
          <a:ln/>
        </p:spPr>
      </p:sp>
      <p:sp>
        <p:nvSpPr>
          <p:cNvPr id="26" name="Shape 21"/>
          <p:cNvSpPr/>
          <p:nvPr/>
        </p:nvSpPr>
        <p:spPr>
          <a:xfrm>
            <a:off x="9260357" y="168249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7" name="Text 22"/>
          <p:cNvSpPr/>
          <p:nvPr/>
        </p:nvSpPr>
        <p:spPr>
          <a:xfrm>
            <a:off x="9260357" y="1682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29823" y="1682496"/>
            <a:ext cx="512064" cy="512064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80" y="1820753"/>
            <a:ext cx="235549" cy="23554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42069" y="2377440"/>
            <a:ext cx="21998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va onlayn xizmatlar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260357" y="3127248"/>
            <a:ext cx="21906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kirish va qidiruv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yuklab olish</a:t>
            </a:r>
            <a:endParaRPr lang="en-US" sz="10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0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bilan e-mail yuborish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9F4F6"/>
          </a:solidFill>
          <a:ln/>
        </p:spPr>
      </p:sp>
      <p:sp>
        <p:nvSpPr>
          <p:cNvPr id="33" name="Shape 27"/>
          <p:cNvSpPr/>
          <p:nvPr/>
        </p:nvSpPr>
        <p:spPr>
          <a:xfrm>
            <a:off x="804672" y="5134356"/>
            <a:ext cx="475488" cy="475488"/>
          </a:xfrm>
          <a:prstGeom prst="ellipse">
            <a:avLst/>
          </a:prstGeom>
          <a:solidFill>
            <a:srgbClr val="0E7C8C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4" y="5262738"/>
            <a:ext cx="218724" cy="2187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63040" y="5047488"/>
            <a:ext cx="990569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Amaliyotni o‘tkazib yubormang!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3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mashg‘ulotni kompyuterda mustaqil bajaring — nazariy bilim faqat amaliyotda ko‘nikmaga aylanadi.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· I modul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3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486400" cy="5486400"/>
          </a:xfrm>
          <a:prstGeom prst="ellipse">
            <a:avLst/>
          </a:prstGeom>
          <a:solidFill>
            <a:srgbClr val="2FA3B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-2377440"/>
            <a:ext cx="5303520" cy="5303520"/>
          </a:xfrm>
          <a:prstGeom prst="ellipse">
            <a:avLst/>
          </a:prstGeom>
          <a:solidFill>
            <a:srgbClr val="2FA3B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 · YAKUN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0F4A59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135124"/>
            <a:ext cx="530352" cy="530352"/>
          </a:xfrm>
          <a:prstGeom prst="ellipse">
            <a:avLst/>
          </a:prstGeom>
          <a:solidFill>
            <a:srgbClr val="2FA3B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" y="2278319"/>
            <a:ext cx="243962" cy="243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56232"/>
            <a:ext cx="4221328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4 bosqichda ishlaydi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kiritish → qayta ishlash → saqlash → chiqarish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3008" y="1691640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0F4A59"/>
          </a:solidFill>
          <a:ln/>
        </p:spPr>
      </p:sp>
      <p:sp>
        <p:nvSpPr>
          <p:cNvPr id="11" name="Shape 8"/>
          <p:cNvSpPr/>
          <p:nvPr/>
        </p:nvSpPr>
        <p:spPr>
          <a:xfrm>
            <a:off x="6489040" y="2135124"/>
            <a:ext cx="530352" cy="530352"/>
          </a:xfrm>
          <a:prstGeom prst="ellipse">
            <a:avLst/>
          </a:prstGeom>
          <a:solidFill>
            <a:srgbClr val="2FA3B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235" y="2278319"/>
            <a:ext cx="243962" cy="243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3128" y="1856232"/>
            <a:ext cx="4221328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— vositachi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va apparat o‘rtasida; usiz dastur ishlamaydi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364992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0F4A59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808476"/>
            <a:ext cx="530352" cy="530352"/>
          </a:xfrm>
          <a:prstGeom prst="ellipse">
            <a:avLst/>
          </a:prstGeom>
          <a:solidFill>
            <a:srgbClr val="2FA3B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67" y="3951671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29584"/>
            <a:ext cx="4221328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tartibli saqlang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nomlar, papkalar va zaxira nusxa (backup)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233008" y="3364992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0F4A59"/>
          </a:solidFill>
          <a:ln/>
        </p:spPr>
      </p:sp>
      <p:sp>
        <p:nvSpPr>
          <p:cNvPr id="19" name="Shape 14"/>
          <p:cNvSpPr/>
          <p:nvPr/>
        </p:nvSpPr>
        <p:spPr>
          <a:xfrm>
            <a:off x="6489040" y="3808476"/>
            <a:ext cx="530352" cy="530352"/>
          </a:xfrm>
          <a:prstGeom prst="ellipse">
            <a:avLst/>
          </a:prstGeom>
          <a:solidFill>
            <a:srgbClr val="2FA3B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35" y="3951671"/>
            <a:ext cx="243962" cy="2439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93128" y="3529584"/>
            <a:ext cx="4221328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— sizning qo‘lingizda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parol, antivirus va hushyorlik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9A13B"/>
          </a:solidFill>
          <a:ln/>
        </p:spPr>
      </p:sp>
      <p:sp>
        <p:nvSpPr>
          <p:cNvPr id="23" name="Shape 17"/>
          <p:cNvSpPr/>
          <p:nvPr/>
        </p:nvSpPr>
        <p:spPr>
          <a:xfrm>
            <a:off x="822960" y="5431536"/>
            <a:ext cx="512064" cy="512064"/>
          </a:xfrm>
          <a:prstGeom prst="ellipse">
            <a:avLst/>
          </a:prstGeom>
          <a:solidFill>
            <a:srgbClr val="0A3A4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17" y="5569793"/>
            <a:ext cx="235549" cy="23554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5257800"/>
            <a:ext cx="9859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qadam — II modul:  </a:t>
            </a:r>
            <a:pPr indent="0" marL="0">
              <a:buNone/>
            </a:pPr>
            <a:r>
              <a:rPr lang="en-US" sz="1450" dirty="0">
                <a:solidFill>
                  <a:srgbClr val="0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tizimlar va kompyuter tarmoqlari asoslari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—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Kompyuter axborot texnologiyalari asoslari — I modul</dc:title>
  <dc:subject>PptxGenJS Presentation</dc:subject>
  <dc:creator>AKT va harbiy aloqa instituti</dc:creator>
  <cp:lastModifiedBy>AKT va harbiy aloqa instituti</cp:lastModifiedBy>
  <cp:revision>1</cp:revision>
  <dcterms:created xsi:type="dcterms:W3CDTF">2026-07-21T07:31:10Z</dcterms:created>
  <dcterms:modified xsi:type="dcterms:W3CDTF">2026-07-21T07:31:10Z</dcterms:modified>
</cp:coreProperties>
</file>