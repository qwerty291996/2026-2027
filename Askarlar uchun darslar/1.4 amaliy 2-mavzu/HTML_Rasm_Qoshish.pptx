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10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6125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097280"/>
            <a:ext cx="3200400" cy="3200400"/>
          </a:xfrm>
          <a:prstGeom prst="ellipse">
            <a:avLst/>
          </a:prstGeom>
          <a:solidFill>
            <a:srgbClr val="293880">
              <a:alpha val="60000"/>
            </a:srgbClr>
          </a:solidFill>
          <a:ln w="12700">
            <a:solidFill>
              <a:srgbClr val="2938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F96167">
              <a:alpha val="40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Rasm Qo'shish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Veb sahifaga rasm joylashtirishni o'rganamiz — 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sintaksis, atributlar, formatlar va zamonaviy usullar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228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sintaksis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0160">
            <a:solidFill>
              <a:srgbClr val="D0DA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6868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1A2340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16196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6B8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Oddiy rasm qo'shish --&gt;
</a:t>
            </a:r>
            <a:r>
              <a:rPr lang="en-US" sz="1300" dirty="0">
                <a:solidFill>
                  <a:srgbClr val="7DD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</a:t>
            </a:r>
            <a:r>
              <a:rPr lang="en-US" sz="1300" dirty="0">
                <a:solidFill>
                  <a:srgbClr val="86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r>
              <a:rPr lang="en-US" sz="1300" dirty="0">
                <a:solidFill>
                  <a:srgbClr val="FCD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="rasm.jpg" </a:t>
            </a:r>
            <a:r>
              <a:rPr lang="en-US" sz="1300" dirty="0">
                <a:solidFill>
                  <a:srgbClr val="86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</a:t>
            </a:r>
            <a:r>
              <a:rPr lang="en-US" sz="1300" dirty="0">
                <a:solidFill>
                  <a:srgbClr val="FCD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="Rasm tavsifi"</a:t>
            </a:r>
            <a:r>
              <a:rPr lang="en-US" sz="13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1A2340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13332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6B8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Kenglik va balandlik bilan --&gt;
</a:t>
            </a:r>
            <a:r>
              <a:rPr lang="en-US" sz="1300" dirty="0">
                <a:solidFill>
                  <a:srgbClr val="7DD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</a:t>
            </a:r>
            <a:r>
              <a:rPr lang="en-US" sz="1300" dirty="0">
                <a:solidFill>
                  <a:srgbClr val="86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r>
              <a:rPr lang="en-US" sz="1300" dirty="0">
                <a:solidFill>
                  <a:srgbClr val="FCD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="foto.png" </a:t>
            </a:r>
            <a:r>
              <a:rPr lang="en-US" sz="1300" dirty="0">
                <a:solidFill>
                  <a:srgbClr val="86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</a:t>
            </a:r>
            <a:r>
              <a:rPr lang="en-US" sz="1300" dirty="0">
                <a:solidFill>
                  <a:srgbClr val="FCD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="Mening rasmim" </a:t>
            </a:r>
            <a:r>
              <a:rPr lang="en-US" sz="1300" dirty="0">
                <a:solidFill>
                  <a:srgbClr val="86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r>
              <a:rPr lang="en-US" sz="1300" dirty="0">
                <a:solidFill>
                  <a:srgbClr val="FCD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="300" </a:t>
            </a:r>
            <a:r>
              <a:rPr lang="en-US" sz="1300" dirty="0">
                <a:solidFill>
                  <a:srgbClr val="86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</a:t>
            </a:r>
            <a:r>
              <a:rPr lang="en-US" sz="1300" dirty="0">
                <a:solidFill>
                  <a:srgbClr val="FCD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="200"</a:t>
            </a:r>
            <a:r>
              <a:rPr lang="en-US" sz="13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8D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39572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27432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 manzili (majburiy)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42032" y="233172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8D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33472" y="239572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33472" y="27432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Matnli tavsif (majburiy)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26864" y="233172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8D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18304" y="239572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18304" y="27432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Kenglik (piksel)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11696" y="233172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8D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03136" y="239572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03136" y="27432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Balandlik (piksel)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3E0"/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74904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Muhim: &lt;img&gt; tegi yopilmaydigan (self-closing) tegdir. HTML5 da /&gt; qo'shish shart emas.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228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src atributi — rasm manzili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0160">
            <a:solidFill>
              <a:srgbClr val="D0DA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68680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EAF6FF"/>
          </a:solidFill>
          <a:ln w="6350">
            <a:solidFill>
              <a:srgbClr val="90CC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3268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Nisbiy yo'l (bir papkada)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280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src="rasm.jpg" alt="..."&gt;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EAF6FF"/>
          </a:solidFill>
          <a:ln w="6350">
            <a:solidFill>
              <a:srgbClr val="90CC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1284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Papka ichida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5603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src="images/foto.png" alt="..."&gt;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EAF6FF"/>
          </a:solidFill>
          <a:ln w="6350">
            <a:solidFill>
              <a:srgbClr val="90CC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4930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Internet URL (tashqi manba)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8404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src="https://example.com/img.jpg" alt="..."&gt;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8F5E9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709160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Tavsiya: Rasmlarni loyiha papkasida saqlang (masalan: /images/). Bu boshqa serverlarga bog'liqlikni kamaytiradi.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228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Rasm formatlari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0160">
            <a:solidFill>
              <a:srgbClr val="D0DA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6868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FFF3E0"/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601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JPEG/JPG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3441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Keng ishlatiladigan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61848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Fotografiyalar, murakkab rasmlar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86868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E8F5E9"/>
          </a:solidFill>
          <a:ln w="635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9601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9000" y="13441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Shaffoflik uchun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29000" y="161848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Shaffof fon, logotiplar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86868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F3E5F5"/>
          </a:solidFill>
          <a:ln w="6350">
            <a:solidFill>
              <a:srgbClr val="9C27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9601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GIF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63640" y="13441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Animatsiya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63640" y="161848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Sodda animatsiyalar, ikonlar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37744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E3F2FD"/>
          </a:solidFill>
          <a:ln w="6350">
            <a:solidFill>
              <a:srgbClr val="2196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4688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" y="28529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Zamonaviy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312724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Zamonaviy, kichik hajm (JPEG/PNG o'rniga)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91840" y="237744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E8F5E9"/>
          </a:solidFill>
          <a:ln w="6350">
            <a:solidFill>
              <a:srgbClr val="388E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24688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429000" y="28529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Vektorli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29000" y="312724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Vektorli, o'lcham yo'qotmaydi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237744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FBE9E7"/>
          </a:solidFill>
          <a:ln w="6350">
            <a:solidFill>
              <a:srgbClr val="FF57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24688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AVIF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63640" y="28529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312724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yangi, eng kichik hajm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228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Kenglik va balandlik atributlari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0160">
            <a:solidFill>
              <a:srgbClr val="D0DA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6868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1A2340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41832"/>
            <a:ext cx="79552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6B8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&lt;!-- 1. HTML atributlari bilan (piksel) --&gt;
</a:t>
            </a:r>
            <a:r>
              <a:rPr lang="en-US" sz="1300" dirty="0">
                <a:solidFill>
                  <a:srgbClr val="7DD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</a:t>
            </a:r>
            <a:r>
              <a:rPr lang="en-US" sz="1300" dirty="0">
                <a:solidFill>
                  <a:srgbClr val="86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r>
              <a:rPr lang="en-US" sz="1300" dirty="0">
                <a:solidFill>
                  <a:srgbClr val="FCD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="foto.jpg" </a:t>
            </a:r>
            <a:r>
              <a:rPr lang="en-US" sz="1300" dirty="0">
                <a:solidFill>
                  <a:srgbClr val="86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r>
              <a:rPr lang="en-US" sz="1300" dirty="0">
                <a:solidFill>
                  <a:srgbClr val="FCD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="400" </a:t>
            </a:r>
            <a:r>
              <a:rPr lang="en-US" sz="1300" dirty="0">
                <a:solidFill>
                  <a:srgbClr val="86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</a:t>
            </a:r>
            <a:r>
              <a:rPr lang="en-US" sz="1300" dirty="0">
                <a:solidFill>
                  <a:srgbClr val="FCD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="300"</a:t>
            </a:r>
            <a:r>
              <a:rPr lang="en-US" sz="13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1A2340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37360"/>
            <a:ext cx="79552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6B8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&lt;!-- 2. CSS inline bilan (tavsiya etiladi) --&gt;
</a:t>
            </a:r>
            <a:r>
              <a:rPr lang="en-US" sz="1300" dirty="0">
                <a:solidFill>
                  <a:srgbClr val="7DD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</a:t>
            </a:r>
            <a:r>
              <a:rPr lang="en-US" sz="1300" dirty="0">
                <a:solidFill>
                  <a:srgbClr val="86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r>
              <a:rPr lang="en-US" sz="1300" dirty="0">
                <a:solidFill>
                  <a:srgbClr val="FCD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="foto.jpg" </a:t>
            </a:r>
            <a:r>
              <a:rPr lang="en-US" sz="1300" dirty="0">
                <a:solidFill>
                  <a:srgbClr val="86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r>
              <a:rPr lang="en-US" sz="1300" dirty="0">
                <a:solidFill>
                  <a:srgbClr val="FCD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="width:100%; max-width:600px;"</a:t>
            </a:r>
            <a:r>
              <a:rPr lang="en-US" sz="13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59736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1A2340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532888"/>
            <a:ext cx="79552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6B8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&lt;!-- 3. Nisbatni saqlash (height: auto) --&gt;
</a:t>
            </a:r>
            <a:r>
              <a:rPr lang="en-US" sz="1300" dirty="0">
                <a:solidFill>
                  <a:srgbClr val="7DD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</a:t>
            </a:r>
            <a:r>
              <a:rPr lang="en-US" sz="1300" dirty="0">
                <a:solidFill>
                  <a:srgbClr val="86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r>
              <a:rPr lang="en-US" sz="1300" dirty="0">
                <a:solidFill>
                  <a:srgbClr val="FCD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="foto.jpg" </a:t>
            </a:r>
            <a:r>
              <a:rPr lang="en-US" sz="1300" dirty="0">
                <a:solidFill>
                  <a:srgbClr val="86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r>
              <a:rPr lang="en-US" sz="1300" dirty="0">
                <a:solidFill>
                  <a:srgbClr val="FCD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="width:300px; height:auto;"</a:t>
            </a:r>
            <a:r>
              <a:rPr lang="en-US" sz="13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31012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height: auto — rasm cho'zilmasligini ta'minlaydi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785616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max-width: 100% — rasmni konteynerga moslashtiradi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261104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width/height HTML atributlari faqat zaxira o'lcham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228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Rasmni CSS bilan stillash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0160">
            <a:solidFill>
              <a:srgbClr val="2E40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68680"/>
            <a:ext cx="4069080" cy="3474720"/>
          </a:xfrm>
          <a:prstGeom prst="roundRect">
            <a:avLst>
              <a:gd name="adj" fmla="val 3158"/>
            </a:avLst>
          </a:prstGeom>
          <a:solidFill>
            <a:srgbClr val="1A2340"/>
          </a:solidFill>
          <a:ln w="6350">
            <a:solidFill>
              <a:srgbClr val="2E40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1440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Aylana shaklda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298448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 {</a:t>
            </a:r>
            <a:endParaRPr lang="en-US" sz="12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50%;</a:t>
            </a:r>
            <a:endParaRPr lang="en-US" sz="12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object-fit: cover;</a:t>
            </a:r>
            <a:endParaRPr lang="en-US" sz="12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100px;</a:t>
            </a:r>
            <a:endParaRPr lang="en-US" sz="12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height: 100px;</a:t>
            </a:r>
            <a:endParaRPr lang="en-US" sz="12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17720" y="868680"/>
            <a:ext cx="4069080" cy="3474720"/>
          </a:xfrm>
          <a:prstGeom prst="roundRect">
            <a:avLst>
              <a:gd name="adj" fmla="val 3158"/>
            </a:avLst>
          </a:prstGeom>
          <a:solidFill>
            <a:srgbClr val="1A2340"/>
          </a:solidFill>
          <a:ln w="6350">
            <a:solidFill>
              <a:srgbClr val="2E40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91440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Chegara va soya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1298448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 {</a:t>
            </a:r>
            <a:endParaRPr lang="en-US" sz="12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 2px solid #ddd;</a:t>
            </a:r>
            <a:endParaRPr lang="en-US" sz="12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8px;</a:t>
            </a:r>
            <a:endParaRPr lang="en-US" sz="12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box-shadow:</a:t>
            </a:r>
            <a:endParaRPr lang="en-US" sz="12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0 4px 12px rgba(0,0,0,0.15);</a:t>
            </a:r>
            <a:endParaRPr lang="en-US" sz="12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45720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E3060"/>
          </a:solidFill>
          <a:ln w="6350">
            <a:solidFill>
              <a:srgbClr val="4A6A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46634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object-fit: cover — rasm o'lchamini o'zgartirmasdan maydonni to'ldiradi, ortiqcha qismlari kesiladi.</a:t>
            </a:r>
            <a:endParaRPr lang="en-US" sz="13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228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Havolali rasm — &lt;a&gt; + &lt;img&gt;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0160">
            <a:solidFill>
              <a:srgbClr val="D0DA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686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1A2340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41832"/>
            <a:ext cx="795528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6B8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Rasmni havola sifatida ishlatish --&gt;
</a:t>
            </a:r>
            <a:r>
              <a:rPr lang="en-US" sz="13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</a:t>
            </a:r>
            <a:r>
              <a:rPr lang="en-US" sz="1300" dirty="0">
                <a:solidFill>
                  <a:srgbClr val="86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r>
              <a:rPr lang="en-US" sz="1300" dirty="0">
                <a:solidFill>
                  <a:srgbClr val="FCD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="sahifa.html"</a:t>
            </a:r>
            <a:r>
              <a:rPr lang="en-US" sz="13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
</a:t>
            </a:r>
            <a:r>
              <a:rPr lang="en-US" sz="1300" dirty="0">
                <a:solidFill>
                  <a:srgbClr val="7DD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&lt;img </a:t>
            </a:r>
            <a:r>
              <a:rPr lang="en-US" sz="1300" dirty="0">
                <a:solidFill>
                  <a:srgbClr val="86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r>
              <a:rPr lang="en-US" sz="1300" dirty="0">
                <a:solidFill>
                  <a:srgbClr val="FCD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="banner.jpg" </a:t>
            </a:r>
            <a:r>
              <a:rPr lang="en-US" sz="1300" dirty="0">
                <a:solidFill>
                  <a:srgbClr val="86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</a:t>
            </a:r>
            <a:r>
              <a:rPr lang="en-US" sz="1300" dirty="0">
                <a:solidFill>
                  <a:srgbClr val="FCD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="Bosh sahifaga o'tish"</a:t>
            </a:r>
            <a:r>
              <a:rPr lang="en-US" sz="1300" dirty="0">
                <a:solidFill>
                  <a:srgbClr val="7DD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
</a:t>
            </a:r>
            <a:r>
              <a:rPr lang="en-US" sz="13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1A2340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450592"/>
            <a:ext cx="795528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6B8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Yangi tabda ochish --&gt;
</a:t>
            </a:r>
            <a:r>
              <a:rPr lang="en-US" sz="13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</a:t>
            </a:r>
            <a:r>
              <a:rPr lang="en-US" sz="1300" dirty="0">
                <a:solidFill>
                  <a:srgbClr val="86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r>
              <a:rPr lang="en-US" sz="1300" dirty="0">
                <a:solidFill>
                  <a:srgbClr val="FCD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="https://example.com"  </a:t>
            </a:r>
            <a:r>
              <a:rPr lang="en-US" sz="1300" dirty="0">
                <a:solidFill>
                  <a:srgbClr val="86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r>
              <a:rPr lang="en-US" sz="1300" dirty="0">
                <a:solidFill>
                  <a:srgbClr val="FCD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="_blank"</a:t>
            </a:r>
            <a:r>
              <a:rPr lang="en-US" sz="13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
</a:t>
            </a:r>
            <a:r>
              <a:rPr lang="en-US" sz="1300" dirty="0">
                <a:solidFill>
                  <a:srgbClr val="7DD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&lt;img </a:t>
            </a:r>
            <a:r>
              <a:rPr lang="en-US" sz="1300" dirty="0">
                <a:solidFill>
                  <a:srgbClr val="86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r>
              <a:rPr lang="en-US" sz="1300" dirty="0">
                <a:solidFill>
                  <a:srgbClr val="FCD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="logo.png" </a:t>
            </a:r>
            <a:r>
              <a:rPr lang="en-US" sz="1300" dirty="0">
                <a:solidFill>
                  <a:srgbClr val="86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</a:t>
            </a:r>
            <a:r>
              <a:rPr lang="en-US" sz="1300" dirty="0">
                <a:solidFill>
                  <a:srgbClr val="FCD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="Sayt"</a:t>
            </a:r>
            <a:r>
              <a:rPr lang="en-US" sz="1300" dirty="0">
                <a:solidFill>
                  <a:srgbClr val="7DD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
</a:t>
            </a:r>
            <a:r>
              <a:rPr lang="en-US" sz="13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3E0"/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402336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target="_blank" — havolani yangi tabda ochadi. Xavfsizlik uchun rel="noopener noreferrer" ham qo'shing!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8F5E9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46634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SEO: Havolali rasmlarda alt atributi havola matni sifatida ishlatiladi.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228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Semantik teglar: figure va figcaption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0160">
            <a:solidFill>
              <a:srgbClr val="D0DA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6868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1A2340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13816"/>
            <a:ext cx="7955280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&lt;figure&gt;
</a:t>
            </a:r>
            <a:r>
              <a:rPr lang="en-US" sz="1300" dirty="0">
                <a:solidFill>
                  <a:srgbClr val="7DD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&lt;img
</a:t>
            </a:r>
            <a:r>
              <a:rPr lang="en-US" sz="1300" dirty="0">
                <a:solidFill>
                  <a:srgbClr val="86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src</a:t>
            </a:r>
            <a:r>
              <a:rPr lang="en-US" sz="1300" dirty="0">
                <a:solidFill>
                  <a:srgbClr val="FCD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="tog.jpg"
</a:t>
            </a:r>
            <a:r>
              <a:rPr lang="en-US" sz="1300" dirty="0">
                <a:solidFill>
                  <a:srgbClr val="86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alt</a:t>
            </a:r>
            <a:r>
              <a:rPr lang="en-US" sz="1300" dirty="0">
                <a:solidFill>
                  <a:srgbClr val="FCD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="Chimgan tog'lari"
</a:t>
            </a:r>
            <a:r>
              <a:rPr lang="en-US" sz="1300" dirty="0">
                <a:solidFill>
                  <a:srgbClr val="86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style</a:t>
            </a:r>
            <a:r>
              <a:rPr lang="en-US" sz="1300" dirty="0">
                <a:solidFill>
                  <a:srgbClr val="FCD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="width: 100%;"
</a:t>
            </a:r>
            <a:r>
              <a:rPr lang="en-US" sz="1300" dirty="0">
                <a:solidFill>
                  <a:srgbClr val="7DD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
</a:t>
            </a:r>
            <a:r>
              <a:rPr lang="en-US" sz="13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&lt;figcaption&gt;</a:t>
            </a:r>
            <a:r>
              <a:rPr lang="en-US" sz="13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Chimgan tog'lari, O'zbekiston</a:t>
            </a:r>
            <a:r>
              <a:rPr lang="en-US" sz="13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&lt;/figcaption&gt;
&lt;/figure&gt;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218688"/>
            <a:ext cx="8229600" cy="472232"/>
          </a:xfrm>
          <a:prstGeom prst="roundRect">
            <a:avLst>
              <a:gd name="adj" fmla="val 10256"/>
            </a:avLst>
          </a:prstGeom>
          <a:solidFill>
            <a:srgbClr val="E8F0FF"/>
          </a:solidFill>
          <a:ln w="6350">
            <a:solidFill>
              <a:srgbClr val="90CC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20791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&lt;figure&gt;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416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Mustaqil semantik konteyner. Rasm, video, kod bloklar uchun ishlatiladi.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754928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5E9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81893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&lt;figcaption&gt;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12068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 ostidagi izoh matni. figure ichida birinchi yoki oxirgi bo'lishi mumkin.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555341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3F2FD"/>
          </a:solidFill>
          <a:ln w="6350">
            <a:solidFill>
              <a:srgbClr val="64B5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4646781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figure/figcaption — screen reader va qidiruv tizimlari uchun qulay semantik tuzilma.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228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 (moslashuvchan) rasm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0160">
            <a:solidFill>
              <a:srgbClr val="2E40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6868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1A2340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41832"/>
            <a:ext cx="79552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6B8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Eng oddiy usul --&gt;
</a:t>
            </a:r>
            <a:r>
              <a:rPr lang="en-US" sz="1300" dirty="0">
                <a:solidFill>
                  <a:srgbClr val="7DD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</a:t>
            </a:r>
            <a:r>
              <a:rPr lang="en-US" sz="1300" dirty="0">
                <a:solidFill>
                  <a:srgbClr val="86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r>
              <a:rPr lang="en-US" sz="1300" dirty="0">
                <a:solidFill>
                  <a:srgbClr val="FCD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="rasm.jpg" </a:t>
            </a:r>
            <a:r>
              <a:rPr lang="en-US" sz="1300" dirty="0">
                <a:solidFill>
                  <a:srgbClr val="86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r>
              <a:rPr lang="en-US" sz="1300" dirty="0">
                <a:solidFill>
                  <a:srgbClr val="FCD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="max-width:100%; height:auto;"</a:t>
            </a:r>
            <a:r>
              <a:rPr lang="en-US" sz="13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1A2340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37360"/>
            <a:ext cx="795528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8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srcset bilan turli ekran o'lchamlari uchun --&gt;
</a:t>
            </a:r>
            <a:r>
              <a:rPr lang="en-US" sz="1300" dirty="0">
                <a:solidFill>
                  <a:srgbClr val="7DD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
</a:t>
            </a:r>
            <a:r>
              <a:rPr lang="en-US" sz="1300" dirty="0">
                <a:solidFill>
                  <a:srgbClr val="86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</a:t>
            </a:r>
            <a:r>
              <a:rPr lang="en-US" sz="1300" dirty="0">
                <a:solidFill>
                  <a:srgbClr val="FCD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="kichik.jpg"
</a:t>
            </a:r>
            <a:r>
              <a:rPr lang="en-US" sz="1300" dirty="0">
                <a:solidFill>
                  <a:srgbClr val="86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srcset</a:t>
            </a:r>
            <a:r>
              <a:rPr lang="en-US" sz="1300" dirty="0">
                <a:solidFill>
                  <a:srgbClr val="FCD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="kichik.jpg 480w,
          orta.jpg   800w,
          katta.jpg  1200w"
</a:t>
            </a:r>
            <a:r>
              <a:rPr lang="en-US" sz="1300" dirty="0">
                <a:solidFill>
                  <a:srgbClr val="86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sizes</a:t>
            </a:r>
            <a:r>
              <a:rPr lang="en-US" sz="1300" dirty="0">
                <a:solidFill>
                  <a:srgbClr val="FCD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="(max-width:600px) 100vw, 50vw"
</a:t>
            </a:r>
            <a:r>
              <a:rPr lang="en-US" sz="1300" dirty="0">
                <a:solidFill>
                  <a:srgbClr val="86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alt</a:t>
            </a:r>
            <a:r>
              <a:rPr lang="en-US" sz="1300" dirty="0">
                <a:solidFill>
                  <a:srgbClr val="FCD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="Responsive rasm"</a:t>
            </a:r>
            <a:r>
              <a:rPr lang="en-US" sz="13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85876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srcset — brauzer ekran kengligiga qarab eng mos rasmni yuklaydi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27024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sizes — hар bir viewport uchun rasm kengligi ko'rsatiladi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68172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480w, 800w, 1200w — rasm fayli kengligini bildiradi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293880">
              <a:alpha val="50000"/>
            </a:srgbClr>
          </a:solidFill>
          <a:ln w="12700">
            <a:solidFill>
              <a:srgbClr val="2938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Xulosa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O'rgangan mavzularimiz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263870"/>
          </a:solidFill>
          <a:ln w="6350">
            <a:solidFill>
              <a:srgbClr val="3A4E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3619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5179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&lt;img&gt; tegi asosiy sintaksisi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1389888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263870"/>
          </a:solidFill>
          <a:ln w="6350">
            <a:solidFill>
              <a:srgbClr val="3A4E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53619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40680" y="15179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— nisbiy, papka, URL manzillar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212848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263870"/>
          </a:solidFill>
          <a:ln w="6350">
            <a:solidFill>
              <a:srgbClr val="3A4E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35915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34086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 formatlari: JPEG, PNG, SVG, WebP...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00600" y="2212848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263870"/>
          </a:solidFill>
          <a:ln w="6350">
            <a:solidFill>
              <a:srgbClr val="3A4E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35915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40680" y="234086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va height atributlari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035808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263870"/>
          </a:solidFill>
          <a:ln w="6350">
            <a:solidFill>
              <a:srgbClr val="3A4E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18211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16382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bilan stillash va object-fit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00600" y="3035808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263870"/>
          </a:solidFill>
          <a:ln w="6350">
            <a:solidFill>
              <a:srgbClr val="3A4E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18211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40680" y="316382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Havolali rasm: &lt;a&gt; + &lt;img&gt;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858768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263870"/>
          </a:solidFill>
          <a:ln w="6350">
            <a:solidFill>
              <a:srgbClr val="3A4E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00507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398678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va figcaption semantik teglar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00600" y="3858768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263870"/>
          </a:solidFill>
          <a:ln w="6350">
            <a:solidFill>
              <a:srgbClr val="3A4E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400507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0680" y="398678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srcset va sizes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4663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 qilishni boshlang!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856</Words>
  <Application>Microsoft Office PowerPoint</Application>
  <PresentationFormat>Экран (16:9)</PresentationFormat>
  <Paragraphs>121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da Rasm Qo'shish</dc:title>
  <dc:subject>PptxGenJS Presentation</dc:subject>
  <dc:creator>PptxGenJS</dc:creator>
  <cp:lastModifiedBy>Isakov Muxriddin</cp:lastModifiedBy>
  <cp:revision>7</cp:revision>
  <dcterms:created xsi:type="dcterms:W3CDTF">2026-06-10T07:50:55Z</dcterms:created>
  <dcterms:modified xsi:type="dcterms:W3CDTF">2026-06-10T07:54:47Z</dcterms:modified>
</cp:coreProperties>
</file>